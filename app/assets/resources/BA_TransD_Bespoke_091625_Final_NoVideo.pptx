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946" r:id="rId1"/>
  </p:sldMasterIdLst>
  <p:notesMasterIdLst>
    <p:notesMasterId r:id="rId64"/>
  </p:notesMasterIdLst>
  <p:handoutMasterIdLst>
    <p:handoutMasterId r:id="rId65"/>
  </p:handoutMasterIdLst>
  <p:sldIdLst>
    <p:sldId id="905" r:id="rId2"/>
    <p:sldId id="1166" r:id="rId3"/>
    <p:sldId id="962" r:id="rId4"/>
    <p:sldId id="1186" r:id="rId5"/>
    <p:sldId id="1047" r:id="rId6"/>
    <p:sldId id="1073" r:id="rId7"/>
    <p:sldId id="1102" r:id="rId8"/>
    <p:sldId id="1074" r:id="rId9"/>
    <p:sldId id="1092" r:id="rId10"/>
    <p:sldId id="1097" r:id="rId11"/>
    <p:sldId id="1105" r:id="rId12"/>
    <p:sldId id="1003" r:id="rId13"/>
    <p:sldId id="1192" r:id="rId14"/>
    <p:sldId id="1135" r:id="rId15"/>
    <p:sldId id="1174" r:id="rId16"/>
    <p:sldId id="1046" r:id="rId17"/>
    <p:sldId id="783" r:id="rId18"/>
    <p:sldId id="1198" r:id="rId19"/>
    <p:sldId id="1199" r:id="rId20"/>
    <p:sldId id="1200" r:id="rId21"/>
    <p:sldId id="1201" r:id="rId22"/>
    <p:sldId id="1183" r:id="rId23"/>
    <p:sldId id="1160" r:id="rId24"/>
    <p:sldId id="1202" r:id="rId25"/>
    <p:sldId id="1203" r:id="rId26"/>
    <p:sldId id="839" r:id="rId27"/>
    <p:sldId id="1181" r:id="rId28"/>
    <p:sldId id="1204" r:id="rId29"/>
    <p:sldId id="1205" r:id="rId30"/>
    <p:sldId id="842" r:id="rId31"/>
    <p:sldId id="1184" r:id="rId32"/>
    <p:sldId id="1163" r:id="rId33"/>
    <p:sldId id="1206" r:id="rId34"/>
    <p:sldId id="1207" r:id="rId35"/>
    <p:sldId id="1208" r:id="rId36"/>
    <p:sldId id="1209" r:id="rId37"/>
    <p:sldId id="1210" r:id="rId38"/>
    <p:sldId id="1147" r:id="rId39"/>
    <p:sldId id="1211" r:id="rId40"/>
    <p:sldId id="1212" r:id="rId41"/>
    <p:sldId id="1213" r:id="rId42"/>
    <p:sldId id="1214" r:id="rId43"/>
    <p:sldId id="1215" r:id="rId44"/>
    <p:sldId id="858" r:id="rId45"/>
    <p:sldId id="859" r:id="rId46"/>
    <p:sldId id="1216" r:id="rId47"/>
    <p:sldId id="1164" r:id="rId48"/>
    <p:sldId id="861" r:id="rId49"/>
    <p:sldId id="1196" r:id="rId50"/>
    <p:sldId id="862" r:id="rId51"/>
    <p:sldId id="863" r:id="rId52"/>
    <p:sldId id="875" r:id="rId53"/>
    <p:sldId id="1187" r:id="rId54"/>
    <p:sldId id="1000" r:id="rId55"/>
    <p:sldId id="1190" r:id="rId56"/>
    <p:sldId id="1049" r:id="rId57"/>
    <p:sldId id="1130" r:id="rId58"/>
    <p:sldId id="1050" r:id="rId59"/>
    <p:sldId id="1189" r:id="rId60"/>
    <p:sldId id="1138" r:id="rId61"/>
    <p:sldId id="1165" r:id="rId62"/>
    <p:sldId id="1107" r:id="rId6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9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9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9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9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9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39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39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39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39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 Lejuez" initials="" lastIdx="1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  <a:srgbClr val="FFFFFF"/>
    <a:srgbClr val="EAEAEA"/>
    <a:srgbClr val="B2B2B2"/>
    <a:srgbClr val="969696"/>
    <a:srgbClr val="DDDDDD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60"/>
  </p:normalViewPr>
  <p:slideViewPr>
    <p:cSldViewPr>
      <p:cViewPr varScale="1">
        <p:scale>
          <a:sx n="81" d="100"/>
          <a:sy n="81" d="100"/>
        </p:scale>
        <p:origin x="70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4092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>
            <a:extLst>
              <a:ext uri="{FF2B5EF4-FFF2-40B4-BE49-F238E27FC236}">
                <a16:creationId xmlns:a16="http://schemas.microsoft.com/office/drawing/2014/main" id="{CA222D1B-00F3-4463-9CBF-A3E0478B13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w Cen MT" pitchFamily="34" charset="0"/>
                <a:ea typeface="ＭＳ Ｐゴシック" pitchFamily="-106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B89D61E4-5A2F-43B5-9DE8-5B2AC0240EA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w Cen MT" pitchFamily="34" charset="0"/>
                <a:ea typeface="ＭＳ Ｐゴシック" pitchFamily="-106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9140" name="Rectangle 4">
            <a:extLst>
              <a:ext uri="{FF2B5EF4-FFF2-40B4-BE49-F238E27FC236}">
                <a16:creationId xmlns:a16="http://schemas.microsoft.com/office/drawing/2014/main" id="{CE4BD74B-71B2-4D8D-A32F-01F74C4C734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w Cen MT" pitchFamily="34" charset="0"/>
                <a:ea typeface="ＭＳ Ｐゴシック" pitchFamily="-106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9141" name="Rectangle 5">
            <a:extLst>
              <a:ext uri="{FF2B5EF4-FFF2-40B4-BE49-F238E27FC236}">
                <a16:creationId xmlns:a16="http://schemas.microsoft.com/office/drawing/2014/main" id="{084EEE00-1E66-4B8F-85D4-A0B9B855D44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9EAA1B48-CEAF-4F26-B62D-0D7E499B68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E3C7FF0-4909-4E14-B931-39C355E091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w Cen MT" pitchFamily="34" charset="0"/>
                <a:ea typeface="ＭＳ Ｐゴシック" pitchFamily="-106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F82F9E2-D2F4-4382-A93F-4B72191879C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w Cen MT" pitchFamily="34" charset="0"/>
                <a:ea typeface="ＭＳ Ｐゴシック" pitchFamily="-106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EFC011C0-55FF-84E0-FBF5-9A29E1EC014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F9360EF-E964-4F95-B287-35BD3055EB7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7164BB18-A98C-4F18-958A-4BD791084C7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w Cen MT" pitchFamily="34" charset="0"/>
                <a:ea typeface="ＭＳ Ｐゴシック" pitchFamily="-106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4F674640-DF39-4D75-939C-29CEB9FFCF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C2A83DD9-B1D8-4F95-A9DE-E9BB2E2553C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w Cen MT" pitchFamily="34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w Cen MT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w Cen MT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w Cen MT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w Cen MT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8C8DDEA4-6B67-EE01-BBEB-8323A49303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69D3776-0F39-4EF4-8027-61A1CFFCE04A}" type="slidenum">
              <a:rPr lang="en-US" altLang="en-US" sz="1200">
                <a:latin typeface="Tw Cen MT" panose="020B0602020104020603" pitchFamily="34" charset="0"/>
              </a:rPr>
              <a:pPr/>
              <a:t>1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E37D0FA5-9C60-F8A9-61EF-79B8084A6E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A3F8C7C9-762D-5532-9FB5-63377F320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0DF70-1C1B-42E5-F432-8332918F6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B7D2671D-8A8B-94DC-81F9-565EA8D0EF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676A91E-EA8B-4D5F-9F8D-0DCFA1B6E31C}" type="slidenum">
              <a:rPr lang="en-US" altLang="en-US" sz="1200">
                <a:latin typeface="Tw Cen MT" panose="020B0602020104020603" pitchFamily="34" charset="0"/>
              </a:rPr>
              <a:pPr/>
              <a:t>2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9F41035F-6F1C-129C-F7B3-AD76984F43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8586B831-0355-D4C0-1D27-B129AA752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855734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A5D4FA1D-F126-8D5D-A58E-AFBEDCEA74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5DC2CEE-95DE-48CB-926D-8ED9076D8145}" type="slidenum">
              <a:rPr lang="en-US" altLang="en-US" sz="1200">
                <a:latin typeface="Tw Cen MT" panose="020B0602020104020603" pitchFamily="34" charset="0"/>
              </a:rPr>
              <a:pPr/>
              <a:t>3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8E499260-400A-094D-895F-B5BFD21A7B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7A0999EB-8F8E-139C-CC68-27C189346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D17EF-8F36-3311-F2F5-B95D38A88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9CBC4D2A-8286-41D9-5801-D6F65FD473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5DC2CEE-95DE-48CB-926D-8ED9076D8145}" type="slidenum">
              <a:rPr lang="en-US" altLang="en-US" sz="1200">
                <a:latin typeface="Tw Cen MT" panose="020B0602020104020603" pitchFamily="34" charset="0"/>
              </a:rPr>
              <a:pPr/>
              <a:t>4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735DA8C3-2ED0-D9D2-F10B-3DB9B4639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55527839-2A6D-E46A-DE84-153B9F3CFA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878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251AF7BE-D2D6-B30A-501A-9C092A6F09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974C8BC-B8C9-43DD-AB5B-D0E28B0356C5}" type="slidenum">
              <a:rPr lang="en-US" altLang="en-US" sz="1200">
                <a:latin typeface="Tw Cen MT" panose="020B0602020104020603" pitchFamily="34" charset="0"/>
              </a:rPr>
              <a:pPr/>
              <a:t>9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6643736-3390-D342-636F-9EF3F5FB5D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34DAC69-4E0A-9B7A-D910-547DC5A66C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E14D3AF-01B6-F562-3426-4D995F80F0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2EB206-ABD5-4CCC-8180-79DB7B6512DC}" type="slidenum">
              <a:rPr lang="en-US" altLang="en-US" sz="1200">
                <a:solidFill>
                  <a:srgbClr val="000000"/>
                </a:solidFill>
                <a:latin typeface="Tw Cen MT" panose="020B0602020104020603" pitchFamily="34" charset="0"/>
              </a:rPr>
              <a:pPr/>
              <a:t>10</a:t>
            </a:fld>
            <a:endParaRPr lang="en-US" altLang="en-US" sz="1200">
              <a:solidFill>
                <a:srgbClr val="000000"/>
              </a:solidFill>
              <a:latin typeface="Tw Cen MT" panose="020B0602020104020603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A8BE9C5-38EC-E59A-C484-E6E033F30D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B8FA1D49-B960-BD34-3686-A4BEE7D0E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67318EEB-89C0-5AED-1969-C0FB26A071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3CDBEDB-FA18-45BB-8F40-AD9B6377E16F}" type="slidenum">
              <a:rPr lang="en-US" altLang="en-US" sz="1200">
                <a:latin typeface="Tw Cen MT" panose="020B0602020104020603" pitchFamily="34" charset="0"/>
              </a:rPr>
              <a:pPr/>
              <a:t>11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63AC542-BA4D-9B8D-5C05-ED8146FDC5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56AA545-2B64-4A63-9A01-AAAA53C01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59345A0B-E157-DE27-C9C5-D664D443EC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BBB9591-4568-4BAC-A0C1-E6B428F51E59}" type="slidenum">
              <a:rPr lang="en-US" altLang="en-US" sz="1200">
                <a:latin typeface="Tw Cen MT" panose="020B0602020104020603" pitchFamily="34" charset="0"/>
              </a:rPr>
              <a:pPr/>
              <a:t>12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75BC7EF-B521-0DD9-9434-2329AF41BD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94FF0035-64C5-C1FC-0147-D5DCA3523F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7A1F0-39B7-3A35-54C3-3A797A4A9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71DAA776-A6F0-2E93-AD6C-13CE336C08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BBB9591-4568-4BAC-A0C1-E6B428F51E59}" type="slidenum">
              <a:rPr lang="en-US" altLang="en-US" sz="1200">
                <a:latin typeface="Tw Cen MT" panose="020B0602020104020603" pitchFamily="34" charset="0"/>
              </a:rPr>
              <a:pPr/>
              <a:t>13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4DDEF1B-750D-05D5-7614-08A7360EE7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DA24FA08-C602-AB73-980C-3206855901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54876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AA01A9C3-C272-1678-129D-0B73B1CBA0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FB8514E-4E66-45CB-B65C-9B54F55DAAA7}" type="slidenum">
              <a:rPr lang="en-US" altLang="en-US" sz="1200">
                <a:latin typeface="Tw Cen MT" panose="020B0602020104020603" pitchFamily="34" charset="0"/>
              </a:rPr>
              <a:pPr/>
              <a:t>16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5C216D46-93CB-B8BF-FBDD-3D98FEC12F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5978D2E7-BC25-9C79-0B7C-2DF1109A4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Carl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488F263F-4B8E-2B92-99C4-8F9017682C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AA6780E-4E3D-4CB7-BBD9-CD23596053C6}" type="slidenum">
              <a:rPr lang="en-US" altLang="en-US" sz="1200">
                <a:latin typeface="Tw Cen MT" panose="020B0602020104020603" pitchFamily="34" charset="0"/>
              </a:rPr>
              <a:pPr/>
              <a:t>17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A78A7BFC-F229-7C22-7C7F-8E2905BD60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2A732787-B7E1-EE6F-50A2-771A9B260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Carl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5EEAB6AB-35CF-002A-69A4-7578079B33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19D46548-06F5-7F0F-F359-BAFC2D8BF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s</a:t>
            </a: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D67DD5DA-9206-443C-E7A0-4CB2F6B98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E2B2635-5013-4565-9C35-19AA9DDF4BA3}" type="slidenum">
              <a:rPr lang="en-US" altLang="en-US" sz="1200">
                <a:latin typeface="Tw Cen MT" panose="020B0602020104020603" pitchFamily="34" charset="0"/>
              </a:rPr>
              <a:pPr/>
              <a:t>18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320E8E06-7C2B-AECF-1897-36807B718E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45D052D-63A9-47B8-9065-1F4E0FD132D0}" type="slidenum">
              <a:rPr lang="en-US" altLang="en-US" sz="1200">
                <a:latin typeface="Tw Cen MT" panose="020B0602020104020603" pitchFamily="34" charset="0"/>
              </a:rPr>
              <a:pPr/>
              <a:t>19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51595B95-3E79-58DE-C126-A2E60BAC40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E3BAEBB-843D-BF51-234D-E7D6C68725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3B2A4-329A-C82B-0717-F0B71DD1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10CE0729-9628-D7E3-35E7-160B4C2CCC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9867DE-97D8-4BAE-874A-14C0E5A258BC}" type="slidenum">
              <a:rPr lang="en-US" altLang="en-US" sz="1200">
                <a:latin typeface="Tw Cen MT" panose="020B0602020104020603" pitchFamily="34" charset="0"/>
              </a:rPr>
              <a:pPr/>
              <a:t>22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4DC50C0E-D50D-4702-01F4-E77BEECB70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4D944553-A383-7A50-C39A-599D7EA23D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444089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CCBB11FC-E3EA-A26E-3511-667614F0D0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9867DE-97D8-4BAE-874A-14C0E5A258BC}" type="slidenum">
              <a:rPr lang="en-US" altLang="en-US" sz="1200">
                <a:latin typeface="Tw Cen MT" panose="020B0602020104020603" pitchFamily="34" charset="0"/>
              </a:rPr>
              <a:pPr/>
              <a:t>23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CB3A40D3-1293-8647-4E7B-8B8D469B23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8FD88FD7-1807-15E7-40FD-E3CDD4AA6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60A28FBA-78B8-F65D-2E72-6C7A901B86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2FA8627-5DE6-409D-9792-F90C790BAC68}" type="slidenum">
              <a:rPr lang="en-US" altLang="en-US" sz="1200">
                <a:latin typeface="Tw Cen MT" panose="020B0602020104020603" pitchFamily="34" charset="0"/>
              </a:rPr>
              <a:pPr/>
              <a:t>24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5919CB86-38CC-48D7-E9E5-8BB1C46102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D6BA32BA-AB00-048E-8281-4B7BFCE78B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9767C51D-C7FD-0F3C-1D6C-324893B114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AB472BE-B0CB-4C3E-9698-EE380D4D08AB}" type="slidenum">
              <a:rPr lang="en-US" altLang="en-US" sz="1200">
                <a:latin typeface="Tw Cen MT" panose="020B0602020104020603" pitchFamily="34" charset="0"/>
              </a:rPr>
              <a:pPr/>
              <a:t>25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89F70E53-5B32-930B-2200-03B78A7A51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63B67C86-7039-A5EA-D692-5CAE389C7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48F64161-6A7E-AA47-420C-82848AF069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7D35285-1E14-4DF0-8A9B-744DA3F865A6}" type="slidenum">
              <a:rPr lang="en-US" altLang="en-US" sz="1200">
                <a:latin typeface="Tw Cen MT" panose="020B0602020104020603" pitchFamily="34" charset="0"/>
              </a:rPr>
              <a:pPr/>
              <a:t>26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CA8722BC-C69F-022C-7E46-5757AB0783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519BADB6-4707-82FF-73DE-D1F91DFCCA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4395-9E08-35BC-5134-D28B7371C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7F50B950-29C9-76EA-7055-39C4103C16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B7F90A5-169E-4B98-963D-E56A8B3212C9}" type="slidenum">
              <a:rPr lang="en-US" altLang="en-US" sz="1200">
                <a:latin typeface="Tw Cen MT" panose="020B0602020104020603" pitchFamily="34" charset="0"/>
              </a:rPr>
              <a:pPr/>
              <a:t>27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B4EE796C-5488-94CD-88E0-D6FB879093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FEAA65A5-EBD8-7B3A-2DEA-2D47B7ACE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528617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42B6DC14-DCA9-5458-94A3-2EEFD1CEB9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11E21B-D379-438E-86FD-7B2F3DBEEFC5}" type="slidenum">
              <a:rPr lang="en-US" altLang="en-US" sz="1200">
                <a:latin typeface="Tw Cen MT" panose="020B0602020104020603" pitchFamily="34" charset="0"/>
              </a:rPr>
              <a:pPr/>
              <a:t>28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80056788-DC3A-C488-5DDF-DABC24C42D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6CA441AF-0366-5676-35CE-70F09F513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485EAE22-FFB4-237D-F170-82D8A787D7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FB920AC-9589-4E28-9479-E83B92AD8FEF}" type="slidenum">
              <a:rPr lang="en-US" altLang="en-US" sz="1200">
                <a:latin typeface="Tw Cen MT" panose="020B0602020104020603" pitchFamily="34" charset="0"/>
              </a:rPr>
              <a:pPr/>
              <a:t>29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6839C939-B59C-4C14-91DF-C791A5C141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2640A1A0-064A-BA0E-77CF-6F921B5924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1C901FA8-57DA-9E59-0AC0-C112102950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C12DC0-23D7-4ECF-926E-91F1644C322E}" type="slidenum">
              <a:rPr lang="en-US" altLang="en-US" sz="1200">
                <a:latin typeface="Tw Cen MT" panose="020B0602020104020603" pitchFamily="34" charset="0"/>
              </a:rPr>
              <a:pPr/>
              <a:t>30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6BE5465-44C9-42FF-1D03-BF6C96C3D6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9FE3BAEC-A2A9-9769-9D13-D8CFD86B1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E005F-3AE6-F9E2-2BAA-D285244E8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C1ECD6BD-8CB0-BE70-96BF-49E6A6274A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B7F90A5-169E-4B98-963D-E56A8B3212C9}" type="slidenum">
              <a:rPr lang="en-US" altLang="en-US" sz="1200">
                <a:latin typeface="Tw Cen MT" panose="020B0602020104020603" pitchFamily="34" charset="0"/>
              </a:rPr>
              <a:pPr/>
              <a:t>31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A7D95A8-815E-76CE-AEBE-ED73A3927A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27812994-2AC8-1DB0-54F9-3A24AAD23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713733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D509CF75-9290-9A08-1164-3B75D9C6DE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B7F90A5-169E-4B98-963D-E56A8B3212C9}" type="slidenum">
              <a:rPr lang="en-US" altLang="en-US" sz="1200">
                <a:latin typeface="Tw Cen MT" panose="020B0602020104020603" pitchFamily="34" charset="0"/>
              </a:rPr>
              <a:pPr/>
              <a:t>32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D154793B-212D-67AE-E4BD-6C759B6F4E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FBD57B8B-9F4D-B927-0ECB-E2FDAC01A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63FB1730-D000-10A3-3887-4EB35001C8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2E3997F-2B0C-4941-86DB-A9764A5536CF}" type="slidenum">
              <a:rPr lang="en-US" altLang="en-US" sz="1200">
                <a:latin typeface="Tw Cen MT" panose="020B0602020104020603" pitchFamily="34" charset="0"/>
              </a:rPr>
              <a:pPr/>
              <a:t>33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0A9BF3BD-9B56-358B-7114-A8287990C2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94AD813A-66D8-7C17-ED53-561F58406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421465FD-1B16-A2A0-48EE-E299C3E90A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9BB6B51-D55C-4867-91FC-B1E05102C759}" type="slidenum">
              <a:rPr lang="en-US" altLang="en-US" sz="1200">
                <a:latin typeface="Tw Cen MT" panose="020B0602020104020603" pitchFamily="34" charset="0"/>
              </a:rPr>
              <a:pPr/>
              <a:t>34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741A54F9-4023-1E86-5831-CB6C100FCB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DF3887D4-C458-7392-ABE4-7EF7D2C7D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3348B9F1-D49D-DCDC-4406-385CEEA769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15CC8DB-B471-44A7-9D87-AB3E9B0695A6}" type="slidenum">
              <a:rPr lang="en-US" altLang="en-US" sz="1200">
                <a:latin typeface="Tw Cen MT" panose="020B0602020104020603" pitchFamily="34" charset="0"/>
              </a:rPr>
              <a:pPr/>
              <a:t>35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23C04591-8CF3-A449-C3BD-9E673625B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4364AAA7-D0C4-E116-42C5-CC0552828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1BBE7770-A19D-EA2C-17CC-D09A8BD5DD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82AA451-26AD-4D0F-AE4B-631389CB3F62}" type="slidenum">
              <a:rPr lang="en-US" altLang="en-US" sz="1200">
                <a:latin typeface="Tw Cen MT" panose="020B0602020104020603" pitchFamily="34" charset="0"/>
              </a:rPr>
              <a:pPr/>
              <a:t>36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92B7444E-9717-3CC6-4888-4894ED8CED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CB17CC8C-4F09-CF14-14FD-14735B178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SHERRY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DEF607F1-A96B-0AFC-9611-FE2421FC47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5251D68-927A-4967-80F2-59D5AF66518D}" type="slidenum">
              <a:rPr lang="en-US" altLang="en-US" sz="1200">
                <a:latin typeface="Tw Cen MT" panose="020B0602020104020603" pitchFamily="34" charset="0"/>
              </a:rPr>
              <a:pPr/>
              <a:t>37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583FC988-C318-FAE4-69A3-0AFF625C0C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02843ED0-BE55-FAD4-490C-7F96F1874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FF25D7CC-A1F6-A6CE-9FD6-77A3040F3B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EF153A8-B5D9-4C7D-83AB-FE23E8A5A4B0}" type="slidenum">
              <a:rPr lang="en-US" altLang="en-US" sz="1200">
                <a:latin typeface="Tw Cen MT" panose="020B0602020104020603" pitchFamily="34" charset="0"/>
              </a:rPr>
              <a:pPr/>
              <a:t>38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A6653B5C-EA10-EFE2-1487-D0C9007CD5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66B7564F-73D6-2D0F-27A1-E586E5DC31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BF44815C-C77E-2B97-467A-0BE7582F59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8917B41-03F0-48E3-8504-D04241AA9764}" type="slidenum">
              <a:rPr lang="en-US" altLang="en-US" sz="1200">
                <a:latin typeface="Tw Cen MT" panose="020B0602020104020603" pitchFamily="34" charset="0"/>
              </a:rPr>
              <a:pPr/>
              <a:t>39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41B70AC3-FD52-BAE2-B322-5FD86A5EC3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6EF1235E-F545-6050-85B2-3DCD3C4C6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ABAAE83D-6DD8-B4D4-11CA-AAB93BD1C0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3D7A408-0BA6-42A5-8DE0-2573A5FF2CB8}" type="slidenum">
              <a:rPr lang="en-US" altLang="en-US" sz="1200">
                <a:latin typeface="Tw Cen MT" panose="020B0602020104020603" pitchFamily="34" charset="0"/>
              </a:rPr>
              <a:pPr/>
              <a:t>40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BE3A3281-61AC-B1D1-7848-B9B55CD695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701772D9-798F-8683-4254-900187279E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01FE7581-50BB-D2B0-5838-C2FBDD2157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474656C-D997-4554-AD8D-3BC873327C72}" type="slidenum">
              <a:rPr lang="en-US" altLang="en-US" sz="1200">
                <a:latin typeface="Tw Cen MT" panose="020B0602020104020603" pitchFamily="34" charset="0"/>
              </a:rPr>
              <a:pPr/>
              <a:t>41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6D555A2B-ACA8-911F-ED4F-8A23A54F2E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CFB05D89-8055-2942-8706-21078EE6F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B121C71D-D5BE-D00B-40C5-EA32D6767A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2458504-DD12-4DE2-8467-2834AC16F731}" type="slidenum">
              <a:rPr lang="en-US" altLang="en-US" sz="1200">
                <a:latin typeface="Tw Cen MT" panose="020B0602020104020603" pitchFamily="34" charset="0"/>
              </a:rPr>
              <a:pPr/>
              <a:t>42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3D266453-9584-680C-5845-5A1CF76E92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A8166F3C-A562-2607-14ED-67AC8ADDFE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BD220A26-2915-761D-42D0-4A5C74D21A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B65B114-D2C8-4524-8086-64DE44A5276D}" type="slidenum">
              <a:rPr lang="en-US" altLang="en-US" sz="1200">
                <a:latin typeface="Tw Cen MT" panose="020B0602020104020603" pitchFamily="34" charset="0"/>
              </a:rPr>
              <a:pPr/>
              <a:t>44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91601B5B-2699-9403-CD10-392D4E8A1E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F1B31A93-840F-516A-B4F0-1C7EB4C06C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62C999E1-4CF2-0E0B-68BF-5D8C52DE79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83135BE-73D5-4896-BC86-CD0984616B2E}" type="slidenum">
              <a:rPr lang="en-US" altLang="en-US" sz="1200">
                <a:latin typeface="Tw Cen MT" panose="020B0602020104020603" pitchFamily="34" charset="0"/>
              </a:rPr>
              <a:pPr/>
              <a:t>45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B86AD3AC-894D-8A06-E1DD-07BCDDB588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C584D83D-48E0-3A82-B2AB-6221669FA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1854A30B-933F-72C8-4804-6044DF4801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DBF334-C4CF-4D2C-8C2F-1DFE2F7966D6}" type="slidenum">
              <a:rPr lang="en-US" altLang="en-US" sz="1200">
                <a:latin typeface="Tw Cen MT" panose="020B0602020104020603" pitchFamily="34" charset="0"/>
              </a:rPr>
              <a:pPr/>
              <a:t>47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7AC451F3-89D1-9400-4992-8735CAAB4E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096EA5EF-D8A0-ED2D-0A76-38B7C7BF51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F5E00F93-57F4-103A-D9CA-C22F3BCEAE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B2B7C75-0959-4C49-B215-68411DAF0B99}" type="slidenum">
              <a:rPr lang="en-US" altLang="en-US" sz="1200">
                <a:latin typeface="Tw Cen MT" panose="020B0602020104020603" pitchFamily="34" charset="0"/>
              </a:rPr>
              <a:pPr/>
              <a:t>48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92E47DD2-EB7B-3CD0-9A6E-0A1CBB22C0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C29A6034-EF00-BB41-63DA-F69EC73ED4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K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E6668-D851-34E3-ADDA-172375ABB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F8932302-E482-FDBD-A860-5E4898B7EF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AB472BE-B0CB-4C3E-9698-EE380D4D08AB}" type="slidenum">
              <a:rPr lang="en-US" altLang="en-US" sz="1200">
                <a:latin typeface="Tw Cen MT" panose="020B0602020104020603" pitchFamily="34" charset="0"/>
              </a:rPr>
              <a:pPr/>
              <a:t>49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2AF41FCA-CAED-AFA6-2D1C-711C1A927E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94EFF5BA-BF74-45A1-296D-C88EF5B24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4219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22ABE4D9-E30B-5AB6-089B-D1D49C92C8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D3DAF4-5C68-4648-A7E8-4F2E9DD14630}" type="slidenum">
              <a:rPr lang="en-US" altLang="en-US" sz="1200">
                <a:latin typeface="Tw Cen MT" panose="020B0602020104020603" pitchFamily="34" charset="0"/>
              </a:rPr>
              <a:pPr/>
              <a:t>50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B08E459B-95E1-222B-3AE6-4ACDE41A5C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9982BDC0-6CDB-F585-6FC0-C7A01479AD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CE6715BB-9E84-A50A-7026-E523DB1ADA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5A70AFD-1E67-4C49-9DAF-D3CB9AD8DEB1}" type="slidenum">
              <a:rPr lang="en-US" altLang="en-US" sz="1200">
                <a:latin typeface="Tw Cen MT" panose="020B0602020104020603" pitchFamily="34" charset="0"/>
              </a:rPr>
              <a:pPr/>
              <a:t>51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0E349CD2-D7B2-D374-1458-486B24D0F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F6B26DC3-FB5E-46F5-7D24-CEB471DB4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0A232465-67B4-453F-3297-C3934C156C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B6EE66-E1BC-4164-85AE-C9AF04A6A1F4}" type="slidenum">
              <a:rPr lang="en-US" altLang="en-US" sz="1200">
                <a:latin typeface="Tw Cen MT" panose="020B0602020104020603" pitchFamily="34" charset="0"/>
              </a:rPr>
              <a:pPr/>
              <a:t>52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501F4874-D96C-887F-CDAD-D6E6AB1A89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210F99FA-3B2D-D83B-D18C-84BEDD89F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K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9F2D-9F8A-FCF2-625E-E6DA38AF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C5A8BBAC-A040-E364-AD7B-EC4F567D7A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CEA219-FCD4-497B-8B5D-AEE45DB62DBD}" type="slidenum">
              <a:rPr lang="en-US" altLang="en-US" sz="1200">
                <a:latin typeface="Tw Cen MT" panose="020B0602020104020603" pitchFamily="34" charset="0"/>
              </a:rPr>
              <a:pPr/>
              <a:t>55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24F6612-7EE4-7018-FA41-B1905F9E98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29E05B43-9FE5-9281-DEFD-FA95EB57B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S AND K (K HAS CASES)</a:t>
            </a:r>
          </a:p>
        </p:txBody>
      </p:sp>
    </p:spTree>
    <p:extLst>
      <p:ext uri="{BB962C8B-B14F-4D97-AF65-F5344CB8AC3E}">
        <p14:creationId xmlns:p14="http://schemas.microsoft.com/office/powerpoint/2010/main" val="17667131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6B6EB65F-0B91-BFD8-5A0E-2C1DA7364B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24B206-294A-40E6-AFE4-F024E477D63D}" type="slidenum">
              <a:rPr lang="en-US" altLang="en-US" sz="1200">
                <a:latin typeface="Tw Cen MT" panose="020B0602020104020603" pitchFamily="34" charset="0"/>
              </a:rPr>
              <a:pPr/>
              <a:t>58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A89CFFB1-8930-C79B-C2C8-C884CFC61B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0563"/>
            <a:ext cx="4556125" cy="3417887"/>
          </a:xfrm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A731B53E-6020-6755-7E2A-A36BECA60D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 AND 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5FD7C-F41F-FFA8-0003-791AC6431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B5905984-85FB-A48E-2195-BD74BF28BF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6EEDAAA-EF55-4BF6-9B63-0CC79BC31F09}" type="slidenum">
              <a:rPr lang="en-US" altLang="en-US" sz="1200">
                <a:latin typeface="Tw Cen MT" panose="020B0602020104020603" pitchFamily="34" charset="0"/>
              </a:rPr>
              <a:pPr/>
              <a:t>59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B42AE8C4-91F9-CAE6-0D4B-E1A1CC84D3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7E96FDA4-8F6A-DD23-007E-056E784DEF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S AND K (K HAS CASES)</a:t>
            </a:r>
          </a:p>
        </p:txBody>
      </p:sp>
    </p:spTree>
    <p:extLst>
      <p:ext uri="{BB962C8B-B14F-4D97-AF65-F5344CB8AC3E}">
        <p14:creationId xmlns:p14="http://schemas.microsoft.com/office/powerpoint/2010/main" val="64089085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FB78086F-22C4-61C4-8C2C-61383E1140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9A93B6A-4530-4ECC-99A8-81F226562933}" type="slidenum">
              <a:rPr lang="en-US" altLang="en-US" sz="1200">
                <a:latin typeface="Tw Cen MT" panose="020B0602020104020603" pitchFamily="34" charset="0"/>
              </a:rPr>
              <a:pPr/>
              <a:t>60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5A0BB232-9182-C2CD-8F1C-FC9F2DCD25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BB49400C-6C10-2709-53F9-8F609587C0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FDF9E7E9-CD7C-9F8F-446D-D065197E76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FBA0CE-46A8-4D1B-AC70-2493442AF24D}" type="slidenum">
              <a:rPr lang="en-US" altLang="en-US" sz="1200">
                <a:latin typeface="Tw Cen MT" panose="020B0602020104020603" pitchFamily="34" charset="0"/>
              </a:rPr>
              <a:pPr/>
              <a:t>61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65DF78E9-D93A-5ECE-3A51-84EF939843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9F747FDE-7889-946B-D141-A79F1E08E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799F2C73-2B3A-2886-3C86-AC30B809DA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1F2353-6CDC-442A-9F3B-3D38AF9C8984}" type="slidenum">
              <a:rPr lang="en-US" altLang="en-US" sz="1200">
                <a:latin typeface="Tw Cen MT" panose="020B0602020104020603" pitchFamily="34" charset="0"/>
              </a:rPr>
              <a:pPr/>
              <a:t>62</a:t>
            </a:fld>
            <a:endParaRPr lang="en-US" altLang="en-US" sz="1200">
              <a:latin typeface="Tw Cen MT" panose="020B0602020104020603" pitchFamily="34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33729D5F-9B3E-BEAB-1D60-CEC58BD0F6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BAF1CAF6-6B18-D45C-2DA8-1ABE04C83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Carl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0CCB50-4966-E347-CAC9-C0A3F27437C7}"/>
              </a:ext>
            </a:extLst>
          </p:cNvPr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6C987A-8E83-4AFC-A6F4-69C3A49DC485}"/>
              </a:ext>
            </a:extLst>
          </p:cNvPr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B5D1A4-DBA6-4B10-7B1C-C2A3CBEA0525}"/>
              </a:ext>
            </a:extLst>
          </p:cNvPr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27">
            <a:extLst>
              <a:ext uri="{FF2B5EF4-FFF2-40B4-BE49-F238E27FC236}">
                <a16:creationId xmlns:a16="http://schemas.microsoft.com/office/drawing/2014/main" id="{BB6D9714-F719-9234-081D-52FA185E68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9024E0A3-843E-1D47-C794-987E762EF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8">
            <a:extLst>
              <a:ext uri="{FF2B5EF4-FFF2-40B4-BE49-F238E27FC236}">
                <a16:creationId xmlns:a16="http://schemas.microsoft.com/office/drawing/2014/main" id="{A0BDD15B-5E74-918A-4905-E09F50F2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542C7-34D6-4681-A8C4-ED49CC2A30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958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2C10BF57-E57C-818C-C0BF-C9DEC7808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53D2B6D-743F-BB80-E0FA-284CAB650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21E3F565-AAFC-B7F8-50F0-A6E794B3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E303E5-D736-42DC-BC2D-F443CF4DBA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096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31977C-9513-C32F-837C-A4EBC838DE04}"/>
              </a:ext>
            </a:extLst>
          </p:cNvPr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605067-81E0-100B-CB30-45B7F1F80AD2}"/>
              </a:ext>
            </a:extLst>
          </p:cNvPr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3AE5DC-49B7-ED4C-D707-79804461DE2E}"/>
              </a:ext>
            </a:extLst>
          </p:cNvPr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F0FEBB03-EB08-F58B-A3CD-E7F6032FE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17794D89-8D7E-E4D6-CFCD-6AEC170A06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fld id="{27F34C67-BBEF-498D-B288-D06D3EF0B0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34F0A6B3-1A0B-C189-9BCA-5041D690122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60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0A8CD9CB-8287-A222-2FB4-E5565798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6157F400-0A8E-1D4B-A7A0-DCCDF89C6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6D26FC-5176-4924-9857-2D27F66B35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15DA9E68-DF27-A6A3-74AB-441B1120BD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86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9">
            <a:extLst>
              <a:ext uri="{FF2B5EF4-FFF2-40B4-BE49-F238E27FC236}">
                <a16:creationId xmlns:a16="http://schemas.microsoft.com/office/drawing/2014/main" id="{2DE16F12-3AED-8026-D29E-C9D5F8A10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D2B60CF-0F3F-263F-D93D-E3A637B9EF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072DC1-964B-4BD6-B69A-7B1A2315B39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13">
            <a:extLst>
              <a:ext uri="{FF2B5EF4-FFF2-40B4-BE49-F238E27FC236}">
                <a16:creationId xmlns:a16="http://schemas.microsoft.com/office/drawing/2014/main" id="{3F40E30D-016D-3AE4-53AB-557B6B8AD0E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3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3D0932F9-FE3E-809F-E2CF-FA7C1133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4804444-252F-CCCC-D8ED-5B94C9C6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18F4D8A4-3F1F-6B7E-B394-AC826328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9CA40C-2656-4843-9C89-D3DC1A6FFA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4947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678C23-A74C-FF2F-D341-E3B806DC0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6F453-81C0-909F-3E05-9E81EBAC5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FC4A8-19A9-CBE9-3692-C44ED960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3C73A2-C47E-4232-B0B8-E2C474C6A8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7398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F4A6B5E-700F-1DC0-0EBE-BF868DB7D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E226A0A-FF7C-95A0-15E5-2F9B46D9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70EFFF7-03E2-87A0-E67D-A1F65F50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BC4000-3EC4-40BF-B37F-A80003EB6C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050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1CDA6C-7D5C-9998-448F-137E9B26666F}"/>
              </a:ext>
            </a:extLst>
          </p:cNvPr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7BFFEF-FB9E-4230-DF2E-F32A5E2BDDA7}"/>
              </a:ext>
            </a:extLst>
          </p:cNvPr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EE62B5-134B-D501-96F0-01CC6665A32D}"/>
              </a:ext>
            </a:extLst>
          </p:cNvPr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A6E6D9-8BF8-F4D7-E6D4-DAFA1C77A5D1}"/>
              </a:ext>
            </a:extLst>
          </p:cNvPr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208B762B-2037-9431-E2CD-FD28109B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FAD26D2E-73A0-6B4B-C716-0F6BE65E0B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/>
          <a:lstStyle>
            <a:lvl1pPr>
              <a:defRPr sz="2800"/>
            </a:lvl1pPr>
          </a:lstStyle>
          <a:p>
            <a:fld id="{ACAE04D4-5739-4AE1-A922-9BD1AE50AA7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FFEC2009-40FA-21CF-273C-A0987B9F1B8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43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13AD7849-982C-422A-DA07-DC3441A8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D9EFF49-FE9D-A34D-50C1-42614C4AE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BEC43534-E0D3-F80B-FB75-F5723C8C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04BBA8-B7B0-417A-A198-72FD5C0E82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653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F546C8-DD74-76A3-6402-272D724DED16}"/>
              </a:ext>
            </a:extLst>
          </p:cNvPr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6770A1-8282-9DAA-C429-DDF19C4C308C}"/>
              </a:ext>
            </a:extLst>
          </p:cNvPr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C921F1-B23C-9A94-D8B6-8F7B8C6B42BC}"/>
              </a:ext>
            </a:extLst>
          </p:cNvPr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AA3363A-A711-658D-7666-E8063DBBD4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B6965E-1ADC-4360-1918-337B8035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BC4339C-0086-FA8D-7E08-6F39C2A0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fld id="{1FA91290-3552-4A1E-9E43-9E30413871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035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533400"/>
            <a:ext cx="8001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BA9E413C-FD9F-FE3B-0A2F-7905256B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8E70EC8-2EB3-1241-6697-C4B8D5DC7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CB6CC3C3-C4E5-06E4-5AB1-FE028747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DC863-15BB-4640-9A7F-87BD91B00E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394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>
            <a:extLst>
              <a:ext uri="{FF2B5EF4-FFF2-40B4-BE49-F238E27FC236}">
                <a16:creationId xmlns:a16="http://schemas.microsoft.com/office/drawing/2014/main" id="{431FEF76-021A-1FD6-DCA3-DDE5CAB3E03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>
            <a:extLst>
              <a:ext uri="{FF2B5EF4-FFF2-40B4-BE49-F238E27FC236}">
                <a16:creationId xmlns:a16="http://schemas.microsoft.com/office/drawing/2014/main" id="{B0FC5E6E-2D13-07D2-706A-9D4F179332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79B06790-0F9F-4C59-A0D8-5DEA92FE3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  <a:latin typeface="Tw Cen MT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11C1A-B397-462B-A6C3-AAA285EDC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Tw Cen MT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AFFC00-8998-4B40-B204-FAD6D4464891}"/>
              </a:ext>
            </a:extLst>
          </p:cNvPr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39ED55-6A05-40AF-A881-4CC9AC24E247}"/>
              </a:ext>
            </a:extLst>
          </p:cNvPr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9B4A2D-109B-4A68-A947-384DEEB2B88D}"/>
              </a:ext>
            </a:extLst>
          </p:cNvPr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EFE4CA4-FCB5-45FB-8621-39E891200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1400" b="1">
                <a:solidFill>
                  <a:srgbClr val="FFFFFF"/>
                </a:solidFill>
                <a:latin typeface="Tw Cen MT" panose="020B0602020104020603" pitchFamily="34" charset="0"/>
              </a:defRPr>
            </a:lvl1pPr>
          </a:lstStyle>
          <a:p>
            <a:fld id="{88783864-3FE4-411A-99EA-353CD309C22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938" r:id="rId1"/>
    <p:sldLayoutId id="2147485917" r:id="rId2"/>
    <p:sldLayoutId id="2147485939" r:id="rId3"/>
    <p:sldLayoutId id="2147485940" r:id="rId4"/>
    <p:sldLayoutId id="2147485941" r:id="rId5"/>
    <p:sldLayoutId id="2147485918" r:id="rId6"/>
    <p:sldLayoutId id="2147485942" r:id="rId7"/>
    <p:sldLayoutId id="2147485919" r:id="rId8"/>
    <p:sldLayoutId id="2147485943" r:id="rId9"/>
    <p:sldLayoutId id="2147485920" r:id="rId10"/>
    <p:sldLayoutId id="2147485944" r:id="rId11"/>
    <p:sldLayoutId id="214748592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i/1liug636u6c9hly17wcne/SLIDE_48_rationale-1-1.mp4?rlkey=3ae83m9omozbbpmexnqv5muar&amp;st=t30my9bc&amp;dl=0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i/5am2mvjjydoybvm6ypx4m/Slide_52_Baseline-Activity-Monitoring-2-19-122.mp4?rlkey=zj4yivlyur3w5uwtigebcodts&amp;st=tqnfw380&amp;dl=0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i/5lttpt380dlgcumtp20bo/Slide_58_Reviewing-Baseline-Monitoring-with-Patient.mp4?rlkey=ipecgi31qqmsk3f6tmatb962c&amp;st=54ur7h05&amp;dl=0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i/9t3efluco2ef0q5ef22h4/Slide_82_Provider-to-Patient-Activity-Scheduling-Demonstration-NEW-12-291.mp4?rlkey=vxxkm5hzlgjhn6naahb085x2o&amp;st=13chozgy&amp;dl=0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emf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wmf"/><Relationship Id="rId5" Type="http://schemas.openxmlformats.org/officeDocument/2006/relationships/image" Target="../media/image12.emf"/><Relationship Id="rId10" Type="http://schemas.openxmlformats.org/officeDocument/2006/relationships/image" Target="../media/image17.png"/><Relationship Id="rId4" Type="http://schemas.openxmlformats.org/officeDocument/2006/relationships/image" Target="../media/image11.emf"/><Relationship Id="rId9" Type="http://schemas.openxmlformats.org/officeDocument/2006/relationships/image" Target="../media/image16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havioralactivationtech.com/about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2196/25749" TargetMode="External"/><Relationship Id="rId5" Type="http://schemas.openxmlformats.org/officeDocument/2006/relationships/image" Target="../media/image19.png"/><Relationship Id="rId4" Type="http://schemas.openxmlformats.org/officeDocument/2006/relationships/hyperlink" Target="mailto:dahne@musc.edu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0992D97-BDB9-44DF-AD2B-FB218F870D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143000"/>
            <a:ext cx="9144000" cy="914400"/>
          </a:xfrm>
        </p:spPr>
        <p:txBody>
          <a:bodyPr/>
          <a:lstStyle/>
          <a:p>
            <a:pPr algn="ctr">
              <a:defRPr/>
            </a:pPr>
            <a:br>
              <a:rPr lang="en-US" sz="3200" dirty="0"/>
            </a:br>
            <a:r>
              <a:rPr lang="en-US" sz="4000" b="1" dirty="0"/>
              <a:t>Brief Behavioural Activation (BBA) as a Transdiagnostic Therapy</a:t>
            </a:r>
            <a:endParaRPr lang="en-US" sz="4000" b="1" dirty="0">
              <a:ea typeface="ＭＳ Ｐゴシック" charset="0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5A589A4-80C1-4234-BD38-1591E2544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300" y="2819400"/>
            <a:ext cx="8659813" cy="2133600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70000"/>
              </a:lnSpc>
              <a:defRPr/>
            </a:pPr>
            <a:r>
              <a:rPr lang="en-US" altLang="en-US" sz="3500" b="1" dirty="0"/>
              <a:t>Carl W. Lejuez, Ph.D.</a:t>
            </a:r>
          </a:p>
          <a:p>
            <a:pPr algn="ctr">
              <a:lnSpc>
                <a:spcPct val="70000"/>
              </a:lnSpc>
              <a:defRPr/>
            </a:pPr>
            <a:endParaRPr lang="en-US" altLang="en-US" sz="2800" b="1" dirty="0"/>
          </a:p>
          <a:p>
            <a:pPr algn="ctr">
              <a:lnSpc>
                <a:spcPct val="70000"/>
              </a:lnSpc>
              <a:defRPr/>
            </a:pPr>
            <a:r>
              <a:rPr lang="en-US" altLang="en-US" sz="2800" b="1" i="1" dirty="0"/>
              <a:t>Executive Vice President and Provost </a:t>
            </a:r>
          </a:p>
          <a:p>
            <a:pPr algn="ctr">
              <a:lnSpc>
                <a:spcPct val="70000"/>
              </a:lnSpc>
              <a:defRPr/>
            </a:pPr>
            <a:r>
              <a:rPr lang="en-US" altLang="en-US" sz="2800" b="1" i="1" dirty="0"/>
              <a:t>Professor, Department of Psychology </a:t>
            </a:r>
          </a:p>
          <a:p>
            <a:pPr algn="ctr">
              <a:lnSpc>
                <a:spcPct val="70000"/>
              </a:lnSpc>
              <a:defRPr/>
            </a:pPr>
            <a:r>
              <a:rPr lang="en-US" altLang="en-US" sz="2800" b="1" i="1" dirty="0"/>
              <a:t>and Department of Psychiatry and Behavioral Health</a:t>
            </a:r>
          </a:p>
          <a:p>
            <a:pPr algn="ctr">
              <a:lnSpc>
                <a:spcPct val="70000"/>
              </a:lnSpc>
              <a:defRPr/>
            </a:pPr>
            <a:r>
              <a:rPr lang="en-US" altLang="en-US" sz="2800" b="1" i="1" dirty="0"/>
              <a:t>Stony Brook University – the State University of New York</a:t>
            </a:r>
          </a:p>
          <a:p>
            <a:pPr algn="ctr">
              <a:lnSpc>
                <a:spcPct val="70000"/>
              </a:lnSpc>
              <a:defRPr/>
            </a:pPr>
            <a:endParaRPr lang="en-US" altLang="en-US" sz="2800" b="1" i="1" dirty="0"/>
          </a:p>
          <a:p>
            <a:pPr algn="ctr">
              <a:lnSpc>
                <a:spcPct val="70000"/>
              </a:lnSpc>
              <a:defRPr/>
            </a:pPr>
            <a:r>
              <a:rPr lang="en-US" altLang="en-US" sz="3200" b="1" dirty="0"/>
              <a:t>carl.Lejuez@stonybrook.edu</a:t>
            </a:r>
          </a:p>
          <a:p>
            <a:pPr algn="ctr">
              <a:lnSpc>
                <a:spcPct val="70000"/>
              </a:lnSpc>
              <a:defRPr/>
            </a:pPr>
            <a:endParaRPr lang="en-US" altLang="en-US" sz="2900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76D0-0F5A-F35C-46BB-162792957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E2A3839-53F9-EC63-40CD-BAE177D9F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/>
          <a:lstStyle/>
          <a:p>
            <a:pPr algn="ctr"/>
            <a:r>
              <a:rPr lang="en-US" altLang="en-US" sz="4000"/>
              <a:t>Poll Question #1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7125524-8E49-34DC-FC57-6B9B94526F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86800" cy="4419600"/>
          </a:xfrm>
        </p:spPr>
        <p:txBody>
          <a:bodyPr/>
          <a:lstStyle/>
          <a:p>
            <a:r>
              <a:rPr lang="en-US" altLang="en-US" sz="2800" dirty="0"/>
              <a:t>How confident are you with implementing brief behavioral activation from 0 (not at all confident) to 5 (very confident)?</a:t>
            </a:r>
          </a:p>
          <a:p>
            <a:pPr lvl="1"/>
            <a:r>
              <a:rPr lang="en-US" altLang="en-US" sz="1800" dirty="0"/>
              <a:t>0</a:t>
            </a:r>
          </a:p>
          <a:p>
            <a:pPr lvl="1"/>
            <a:r>
              <a:rPr lang="en-US" altLang="en-US" sz="1800" dirty="0"/>
              <a:t>1</a:t>
            </a:r>
          </a:p>
          <a:p>
            <a:pPr lvl="1"/>
            <a:r>
              <a:rPr lang="en-US" altLang="en-US" sz="1800" dirty="0"/>
              <a:t>2</a:t>
            </a:r>
          </a:p>
          <a:p>
            <a:pPr lvl="1"/>
            <a:r>
              <a:rPr lang="en-US" altLang="en-US" sz="1800" dirty="0"/>
              <a:t>3</a:t>
            </a:r>
          </a:p>
          <a:p>
            <a:pPr lvl="1"/>
            <a:r>
              <a:rPr lang="en-US" altLang="en-US" sz="1800" dirty="0"/>
              <a:t>4</a:t>
            </a:r>
          </a:p>
          <a:p>
            <a:pPr lvl="1"/>
            <a:r>
              <a:rPr lang="en-US" altLang="en-US" sz="18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2759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096BAB9-D9E5-1818-2998-CA2C0C1F9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85800"/>
          </a:xfrm>
        </p:spPr>
        <p:txBody>
          <a:bodyPr/>
          <a:lstStyle/>
          <a:p>
            <a:pPr algn="ctr"/>
            <a:r>
              <a:rPr lang="en-US" altLang="en-US" sz="3300" b="1" dirty="0"/>
              <a:t>Brief Behavioral Activation (BBA)</a:t>
            </a:r>
            <a:br>
              <a:rPr lang="en-US" altLang="en-US" sz="3300" b="1" dirty="0"/>
            </a:br>
            <a:r>
              <a:rPr lang="en-US" altLang="en-US" sz="3300" b="1" dirty="0"/>
              <a:t>Today’s Agenda, Goals, and Ground Rules</a:t>
            </a:r>
            <a:endParaRPr lang="en-US" altLang="en-US" sz="3300" dirty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3BFC899-9CC9-E452-2B96-161013397C8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6200" y="2133600"/>
            <a:ext cx="4800600" cy="4191000"/>
          </a:xfrm>
          <a:ln w="3175"/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400" b="1" dirty="0"/>
              <a:t>Agenda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BBA History/Data/Conceptualization 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BBA Core Principles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Session Review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Applications: Opportunities &amp; Challenges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Final Discussion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7884F6-511E-28CF-3067-38D55D3ACC08}"/>
              </a:ext>
            </a:extLst>
          </p:cNvPr>
          <p:cNvSpPr txBox="1">
            <a:spLocks/>
          </p:cNvSpPr>
          <p:nvPr/>
        </p:nvSpPr>
        <p:spPr bwMode="auto">
          <a:xfrm>
            <a:off x="4800600" y="1676400"/>
            <a:ext cx="4191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639763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b="1" dirty="0"/>
              <a:t>Goals – You will leave…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Understanding the core conceptualization and underlying framework of BBA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Able to conduct BBA with individuals/groups across multiple disorders/settings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With tools to brainstorm challenges/barriers as they arise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Awareness of when you can and shouldn’t deviate from the protocol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200" b="1" dirty="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b="1" dirty="0"/>
              <a:t>Ground Rules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Ask questions and share thoughts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Any time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Often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Hard/challenging content welcome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7B4B1-528E-BFF4-BF55-30ECA4CA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9D305AA-5607-C277-550F-1DD1338F9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85800"/>
          </a:xfrm>
        </p:spPr>
        <p:txBody>
          <a:bodyPr/>
          <a:lstStyle/>
          <a:p>
            <a:pPr algn="ctr"/>
            <a:r>
              <a:rPr lang="en-US" altLang="en-US" sz="3300" b="1"/>
              <a:t>Early Behavioral Approaches for Depression</a:t>
            </a:r>
            <a:endParaRPr lang="en-US" altLang="en-US" sz="330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3337DFC-C2A5-9D3F-25C5-7EEBBF8C0B4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2057400"/>
            <a:ext cx="8458200" cy="3886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/>
              <a:t>Ferster and Lewinsohn (and others) </a:t>
            </a:r>
          </a:p>
          <a:p>
            <a:pPr>
              <a:lnSpc>
                <a:spcPct val="80000"/>
              </a:lnSpc>
            </a:pPr>
            <a:endParaRPr lang="en-US" altLang="en-US" sz="2800"/>
          </a:p>
          <a:p>
            <a:pPr>
              <a:lnSpc>
                <a:spcPct val="80000"/>
              </a:lnSpc>
            </a:pPr>
            <a:r>
              <a:rPr lang="en-US" altLang="en-US" sz="2800"/>
              <a:t>Depression develops/maintains in response to:</a:t>
            </a:r>
          </a:p>
          <a:p>
            <a:pPr lvl="1">
              <a:lnSpc>
                <a:spcPct val="80000"/>
              </a:lnSpc>
            </a:pPr>
            <a:r>
              <a:rPr lang="en-US" altLang="en-US" sz="2500"/>
              <a:t>unsupportive environments with limited access to rewarding (pleasant) events and/or </a:t>
            </a:r>
          </a:p>
          <a:p>
            <a:pPr lvl="1">
              <a:lnSpc>
                <a:spcPct val="80000"/>
              </a:lnSpc>
            </a:pPr>
            <a:r>
              <a:rPr lang="en-US" altLang="en-US" sz="2500"/>
              <a:t>overexposure to punishing events</a:t>
            </a:r>
          </a:p>
          <a:p>
            <a:pPr>
              <a:lnSpc>
                <a:spcPct val="80000"/>
              </a:lnSpc>
            </a:pPr>
            <a:endParaRPr lang="en-US" altLang="en-US" sz="2800"/>
          </a:p>
          <a:p>
            <a:pPr>
              <a:lnSpc>
                <a:spcPct val="80000"/>
              </a:lnSpc>
            </a:pPr>
            <a:r>
              <a:rPr lang="en-US" altLang="en-US" sz="2800"/>
              <a:t>Treatment needed to increase those pleasant events and reduce the punishing events</a:t>
            </a:r>
          </a:p>
        </p:txBody>
      </p:sp>
    </p:spTree>
    <p:extLst>
      <p:ext uri="{BB962C8B-B14F-4D97-AF65-F5344CB8AC3E}">
        <p14:creationId xmlns:p14="http://schemas.microsoft.com/office/powerpoint/2010/main" val="427275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BC174D43-2097-522A-2470-EBEB193F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ctr"/>
            <a:r>
              <a:rPr lang="en-US" altLang="en-US" dirty="0"/>
              <a:t>Pleasant Events Conceptual Model</a:t>
            </a:r>
          </a:p>
        </p:txBody>
      </p:sp>
      <p:grpSp>
        <p:nvGrpSpPr>
          <p:cNvPr id="43011" name="Group 30">
            <a:extLst>
              <a:ext uri="{FF2B5EF4-FFF2-40B4-BE49-F238E27FC236}">
                <a16:creationId xmlns:a16="http://schemas.microsoft.com/office/drawing/2014/main" id="{7243DFBE-DE67-56AF-B75E-4C5AE358C957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209800"/>
            <a:ext cx="8613775" cy="3508375"/>
            <a:chOff x="0" y="50800"/>
            <a:chExt cx="7044055" cy="2750397"/>
          </a:xfrm>
        </p:grpSpPr>
        <p:grpSp>
          <p:nvGrpSpPr>
            <p:cNvPr id="43012" name="Group 31">
              <a:extLst>
                <a:ext uri="{FF2B5EF4-FFF2-40B4-BE49-F238E27FC236}">
                  <a16:creationId xmlns:a16="http://schemas.microsoft.com/office/drawing/2014/main" id="{676D6046-90B1-8C65-207A-D4EAF30DB1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64067"/>
              <a:ext cx="7044055" cy="2437130"/>
              <a:chOff x="0" y="0"/>
              <a:chExt cx="7044055" cy="2437130"/>
            </a:xfrm>
          </p:grpSpPr>
          <p:grpSp>
            <p:nvGrpSpPr>
              <p:cNvPr id="43015" name="Group 34">
                <a:extLst>
                  <a:ext uri="{FF2B5EF4-FFF2-40B4-BE49-F238E27FC236}">
                    <a16:creationId xmlns:a16="http://schemas.microsoft.com/office/drawing/2014/main" id="{2B505C7C-2D20-65CD-1A52-0C5B8268BB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107055" cy="2437130"/>
                <a:chOff x="-165735" y="-193262"/>
                <a:chExt cx="3785235" cy="2555329"/>
              </a:xfrm>
            </p:grpSpPr>
            <p:grpSp>
              <p:nvGrpSpPr>
                <p:cNvPr id="43030" name="Group 47">
                  <a:extLst>
                    <a:ext uri="{FF2B5EF4-FFF2-40B4-BE49-F238E27FC236}">
                      <a16:creationId xmlns:a16="http://schemas.microsoft.com/office/drawing/2014/main" id="{669AC4B0-7733-F6A2-9427-D71F46530E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51560" y="-193262"/>
                  <a:ext cx="2567940" cy="2555196"/>
                  <a:chOff x="-215900" y="-196091"/>
                  <a:chExt cx="2567940" cy="2555484"/>
                </a:xfrm>
              </p:grpSpPr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CB242E01-C13E-4F37-8133-82B279B16C26}"/>
                      </a:ext>
                    </a:extLst>
                  </p:cNvPr>
                  <p:cNvSpPr/>
                  <p:nvPr/>
                </p:nvSpPr>
                <p:spPr>
                  <a:xfrm>
                    <a:off x="-213809" y="-195721"/>
                    <a:ext cx="1317443" cy="1179746"/>
                  </a:xfrm>
                  <a:prstGeom prst="ellipse">
                    <a:avLst/>
                  </a:prstGeom>
                  <a:solidFill>
                    <a:srgbClr val="4F81BD"/>
                  </a:solidFill>
                  <a:ln w="25400" cap="flat" cmpd="sng" algn="ctr">
                    <a:solidFill>
                      <a:srgbClr val="4F81BD">
                        <a:shade val="50000"/>
                      </a:srgbClr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algn="ctr" eaLnBrk="1" fontAlgn="auto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  <a:defRPr/>
                    </a:pPr>
                    <a:r>
                      <a:rPr lang="en-GB" sz="1000" b="1" kern="0">
                        <a:solidFill>
                          <a:sysClr val="window" lastClr="FFFFFF"/>
                        </a:solidFill>
                        <a:latin typeface="Calibri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Feel low</a:t>
                    </a:r>
                    <a:endParaRPr lang="en-US" sz="1100" kern="0">
                      <a:solidFill>
                        <a:sysClr val="window" lastClr="FFFFFF"/>
                      </a:solidFill>
                      <a:latin typeface="Calibri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C37FCD2B-7366-488C-93D0-F02FF198B67D}"/>
                      </a:ext>
                    </a:extLst>
                  </p:cNvPr>
                  <p:cNvSpPr/>
                  <p:nvPr/>
                </p:nvSpPr>
                <p:spPr>
                  <a:xfrm>
                    <a:off x="1034045" y="1179780"/>
                    <a:ext cx="1319025" cy="117974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4F81BD">
                          <a:tint val="50000"/>
                          <a:satMod val="300000"/>
                        </a:srgbClr>
                      </a:gs>
                      <a:gs pos="35000">
                        <a:srgbClr val="4F81BD">
                          <a:tint val="37000"/>
                          <a:satMod val="300000"/>
                        </a:srgbClr>
                      </a:gs>
                      <a:gs pos="100000">
                        <a:srgbClr val="4F81BD">
                          <a:tint val="15000"/>
                          <a:satMod val="350000"/>
                        </a:srgbClr>
                      </a:gs>
                    </a:gsLst>
                    <a:lin ang="16200000" scaled="1"/>
                  </a:gradFill>
                  <a:ln w="38100" cap="flat" cmpd="sng" algn="ctr">
                    <a:solidFill>
                      <a:srgbClr val="4F81BD">
                        <a:shade val="95000"/>
                        <a:satMod val="105000"/>
                      </a:srgbClr>
                    </a:solidFill>
                    <a:prstDash val="dash"/>
                  </a:ln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 eaLnBrk="1" fontAlgn="auto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  <a:defRPr/>
                    </a:pPr>
                    <a:r>
                      <a:rPr lang="en-GB" sz="1000" b="1" kern="0">
                        <a:solidFill>
                          <a:sysClr val="windowText" lastClr="000000"/>
                        </a:solidFill>
                        <a:latin typeface="Calibri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Stop doing things</a:t>
                    </a:r>
                    <a:endParaRPr lang="en-US" sz="1100" kern="0">
                      <a:solidFill>
                        <a:sysClr val="windowText" lastClr="000000"/>
                      </a:solidFill>
                      <a:latin typeface="Calibri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D1144DB-49A2-4E62-BB9B-74D133E4CA85}"/>
                    </a:ext>
                  </a:extLst>
                </p:cNvPr>
                <p:cNvSpPr/>
                <p:nvPr/>
              </p:nvSpPr>
              <p:spPr>
                <a:xfrm>
                  <a:off x="-165735" y="1181149"/>
                  <a:ext cx="1326933" cy="1180918"/>
                </a:xfrm>
                <a:prstGeom prst="ellipse">
                  <a:avLst/>
                </a:prstGeom>
                <a:solidFill>
                  <a:srgbClr val="4F81BD"/>
                </a:solidFill>
                <a:ln w="25400" cap="flat" cmpd="sng" algn="ctr">
                  <a:solidFill>
                    <a:srgbClr val="4F81B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eaLnBrk="1" fontAlgn="auto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defRPr/>
                  </a:pPr>
                  <a:r>
                    <a:rPr lang="en-GB" sz="1000" b="1" kern="0">
                      <a:solidFill>
                        <a:sysClr val="window" lastClr="FFFFFF"/>
                      </a:solidFill>
                      <a:latin typeface="Calibri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“I can’t be bothered”</a:t>
                  </a:r>
                  <a:endParaRPr lang="en-US" sz="1100" kern="0">
                    <a:solidFill>
                      <a:sysClr val="window" lastClr="FFFFFF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Right Arrow 49">
                  <a:extLst>
                    <a:ext uri="{FF2B5EF4-FFF2-40B4-BE49-F238E27FC236}">
                      <a16:creationId xmlns:a16="http://schemas.microsoft.com/office/drawing/2014/main" id="{74BE4415-6CB9-43C4-B771-5AF62E8C2545}"/>
                    </a:ext>
                  </a:extLst>
                </p:cNvPr>
                <p:cNvSpPr/>
                <p:nvPr/>
              </p:nvSpPr>
              <p:spPr>
                <a:xfrm>
                  <a:off x="1409503" y="1875346"/>
                  <a:ext cx="722775" cy="53500"/>
                </a:xfrm>
                <a:prstGeom prst="rightArrow">
                  <a:avLst/>
                </a:prstGeom>
                <a:solidFill>
                  <a:srgbClr val="4F81BD"/>
                </a:solidFill>
                <a:ln w="25400" cap="flat" cmpd="sng" algn="ctr">
                  <a:solidFill>
                    <a:srgbClr val="4F81B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kern="0">
                    <a:solidFill>
                      <a:sysClr val="window" lastClr="FFFFFF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51" name="Right Arrow 50">
                  <a:extLst>
                    <a:ext uri="{FF2B5EF4-FFF2-40B4-BE49-F238E27FC236}">
                      <a16:creationId xmlns:a16="http://schemas.microsoft.com/office/drawing/2014/main" id="{E21851BF-A779-49D5-AE56-D5244E85A57F}"/>
                    </a:ext>
                  </a:extLst>
                </p:cNvPr>
                <p:cNvSpPr/>
                <p:nvPr/>
              </p:nvSpPr>
              <p:spPr>
                <a:xfrm rot="18959009">
                  <a:off x="237564" y="706172"/>
                  <a:ext cx="724356" cy="52195"/>
                </a:xfrm>
                <a:prstGeom prst="rightArrow">
                  <a:avLst/>
                </a:prstGeom>
                <a:solidFill>
                  <a:srgbClr val="4F81BD"/>
                </a:solidFill>
                <a:ln w="25400" cap="flat" cmpd="sng" algn="ctr">
                  <a:solidFill>
                    <a:srgbClr val="4F81B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kern="0">
                    <a:solidFill>
                      <a:sysClr val="window" lastClr="FFFFFF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52" name="Right Arrow 51">
                  <a:extLst>
                    <a:ext uri="{FF2B5EF4-FFF2-40B4-BE49-F238E27FC236}">
                      <a16:creationId xmlns:a16="http://schemas.microsoft.com/office/drawing/2014/main" id="{1FDBE476-02AE-4EF4-8FF1-A893FCC11711}"/>
                    </a:ext>
                  </a:extLst>
                </p:cNvPr>
                <p:cNvSpPr/>
                <p:nvPr/>
              </p:nvSpPr>
              <p:spPr>
                <a:xfrm rot="10800000">
                  <a:off x="1409503" y="1723980"/>
                  <a:ext cx="722775" cy="53500"/>
                </a:xfrm>
                <a:prstGeom prst="rightArrow">
                  <a:avLst/>
                </a:prstGeom>
                <a:solidFill>
                  <a:srgbClr val="4F81BD"/>
                </a:solidFill>
                <a:ln w="25400" cap="flat" cmpd="sng" algn="ctr">
                  <a:solidFill>
                    <a:srgbClr val="4F81B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kern="0">
                    <a:solidFill>
                      <a:sysClr val="window" lastClr="FFFFFF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53" name="Right Arrow 52">
                  <a:extLst>
                    <a:ext uri="{FF2B5EF4-FFF2-40B4-BE49-F238E27FC236}">
                      <a16:creationId xmlns:a16="http://schemas.microsoft.com/office/drawing/2014/main" id="{47C61776-10E9-4657-B3EA-85F5355CFEC8}"/>
                    </a:ext>
                  </a:extLst>
                </p:cNvPr>
                <p:cNvSpPr/>
                <p:nvPr/>
              </p:nvSpPr>
              <p:spPr>
                <a:xfrm rot="8044088" flipV="1">
                  <a:off x="363095" y="789509"/>
                  <a:ext cx="721600" cy="61681"/>
                </a:xfrm>
                <a:prstGeom prst="rightArrow">
                  <a:avLst/>
                </a:prstGeom>
                <a:solidFill>
                  <a:srgbClr val="4F81BD"/>
                </a:solidFill>
                <a:ln w="25400" cap="flat" cmpd="sng" algn="ctr">
                  <a:solidFill>
                    <a:srgbClr val="4F81B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kern="0">
                    <a:solidFill>
                      <a:sysClr val="window" lastClr="FFFFFF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54" name="Right Arrow 53">
                  <a:extLst>
                    <a:ext uri="{FF2B5EF4-FFF2-40B4-BE49-F238E27FC236}">
                      <a16:creationId xmlns:a16="http://schemas.microsoft.com/office/drawing/2014/main" id="{A1BB9428-7518-4E83-A755-43E423058322}"/>
                    </a:ext>
                  </a:extLst>
                </p:cNvPr>
                <p:cNvSpPr/>
                <p:nvPr/>
              </p:nvSpPr>
              <p:spPr>
                <a:xfrm rot="2710595" flipV="1">
                  <a:off x="2354285" y="809161"/>
                  <a:ext cx="721599" cy="45865"/>
                </a:xfrm>
                <a:prstGeom prst="rightArrow">
                  <a:avLst/>
                </a:prstGeom>
                <a:solidFill>
                  <a:srgbClr val="4F81BD"/>
                </a:solidFill>
                <a:ln w="25400" cap="flat" cmpd="sng" algn="ctr">
                  <a:solidFill>
                    <a:srgbClr val="4F81B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kern="0">
                    <a:solidFill>
                      <a:sysClr val="window" lastClr="FFFFFF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55" name="Right Arrow 54">
                  <a:extLst>
                    <a:ext uri="{FF2B5EF4-FFF2-40B4-BE49-F238E27FC236}">
                      <a16:creationId xmlns:a16="http://schemas.microsoft.com/office/drawing/2014/main" id="{07C05998-CDDC-4457-8B7C-1F168B533D10}"/>
                    </a:ext>
                  </a:extLst>
                </p:cNvPr>
                <p:cNvSpPr/>
                <p:nvPr/>
              </p:nvSpPr>
              <p:spPr>
                <a:xfrm rot="13473012">
                  <a:off x="2439102" y="695733"/>
                  <a:ext cx="722774" cy="44366"/>
                </a:xfrm>
                <a:prstGeom prst="rightArrow">
                  <a:avLst/>
                </a:prstGeom>
                <a:solidFill>
                  <a:srgbClr val="4F81BD"/>
                </a:solidFill>
                <a:ln w="25400" cap="flat" cmpd="sng" algn="ctr">
                  <a:solidFill>
                    <a:srgbClr val="4F81B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kern="0">
                    <a:solidFill>
                      <a:sysClr val="window" lastClr="FFFFFF"/>
                    </a:solidFill>
                    <a:latin typeface="Calibri"/>
                    <a:ea typeface="+mn-ea"/>
                  </a:endParaRPr>
                </a:p>
              </p:txBody>
            </p:sp>
          </p:grpSp>
          <p:grpSp>
            <p:nvGrpSpPr>
              <p:cNvPr id="43016" name="Group 35">
                <a:extLst>
                  <a:ext uri="{FF2B5EF4-FFF2-40B4-BE49-F238E27FC236}">
                    <a16:creationId xmlns:a16="http://schemas.microsoft.com/office/drawing/2014/main" id="{85641188-8F16-0301-AA2E-F6E84BCD1A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7000" y="0"/>
                <a:ext cx="3107055" cy="2437130"/>
                <a:chOff x="-165735" y="-193262"/>
                <a:chExt cx="3785235" cy="2555329"/>
              </a:xfrm>
            </p:grpSpPr>
            <p:grpSp>
              <p:nvGrpSpPr>
                <p:cNvPr id="43020" name="Group 37">
                  <a:extLst>
                    <a:ext uri="{FF2B5EF4-FFF2-40B4-BE49-F238E27FC236}">
                      <a16:creationId xmlns:a16="http://schemas.microsoft.com/office/drawing/2014/main" id="{AC18297B-67B1-1857-C8BC-6C516C4325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51560" y="-193262"/>
                  <a:ext cx="2567940" cy="2555196"/>
                  <a:chOff x="-215900" y="-196091"/>
                  <a:chExt cx="2567940" cy="2555484"/>
                </a:xfrm>
              </p:grpSpPr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5BD11180-7783-4100-983D-38BC24E9D21F}"/>
                      </a:ext>
                    </a:extLst>
                  </p:cNvPr>
                  <p:cNvSpPr/>
                  <p:nvPr/>
                </p:nvSpPr>
                <p:spPr>
                  <a:xfrm>
                    <a:off x="-186371" y="-195721"/>
                    <a:ext cx="1290557" cy="117974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9BBB59">
                          <a:tint val="50000"/>
                          <a:satMod val="300000"/>
                        </a:srgbClr>
                      </a:gs>
                      <a:gs pos="35000">
                        <a:srgbClr val="9BBB59">
                          <a:tint val="37000"/>
                          <a:satMod val="300000"/>
                        </a:srgbClr>
                      </a:gs>
                      <a:gs pos="100000">
                        <a:srgbClr val="9BBB59">
                          <a:tint val="15000"/>
                          <a:satMod val="350000"/>
                        </a:srgbClr>
                      </a:gs>
                    </a:gsLst>
                    <a:lin ang="16200000" scaled="1"/>
                  </a:gradFill>
                  <a:ln w="9525" cap="flat" cmpd="sng" algn="ctr">
                    <a:solidFill>
                      <a:srgbClr val="9BBB59">
                        <a:shade val="95000"/>
                        <a:satMod val="105000"/>
                      </a:srgbClr>
                    </a:solidFill>
                    <a:prstDash val="solid"/>
                  </a:ln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 eaLnBrk="1" fontAlgn="auto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  <a:defRPr/>
                    </a:pPr>
                    <a:r>
                      <a:rPr lang="en-GB" sz="1000" b="1" kern="0" dirty="0">
                        <a:solidFill>
                          <a:sysClr val="windowText" lastClr="000000"/>
                        </a:solidFill>
                        <a:latin typeface="Calibri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Feel better</a:t>
                    </a:r>
                    <a:endParaRPr lang="en-US" sz="1100" kern="0" dirty="0">
                      <a:solidFill>
                        <a:sysClr val="windowText" lastClr="000000"/>
                      </a:solidFill>
                      <a:latin typeface="Calibri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46F22CA5-61D4-40B3-9146-53D93A5E9862}"/>
                      </a:ext>
                    </a:extLst>
                  </p:cNvPr>
                  <p:cNvSpPr/>
                  <p:nvPr/>
                </p:nvSpPr>
                <p:spPr>
                  <a:xfrm>
                    <a:off x="1034597" y="1179780"/>
                    <a:ext cx="1317443" cy="117974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9BBB59">
                          <a:tint val="50000"/>
                          <a:satMod val="300000"/>
                        </a:srgbClr>
                      </a:gs>
                      <a:gs pos="35000">
                        <a:srgbClr val="9BBB59">
                          <a:tint val="37000"/>
                          <a:satMod val="300000"/>
                        </a:srgbClr>
                      </a:gs>
                      <a:gs pos="100000">
                        <a:srgbClr val="9BBB59">
                          <a:tint val="15000"/>
                          <a:satMod val="350000"/>
                        </a:srgbClr>
                      </a:gs>
                    </a:gsLst>
                    <a:lin ang="16200000" scaled="1"/>
                  </a:gradFill>
                  <a:ln w="9525" cap="flat" cmpd="sng" algn="ctr">
                    <a:solidFill>
                      <a:srgbClr val="9BBB59">
                        <a:shade val="95000"/>
                        <a:satMod val="105000"/>
                      </a:srgbClr>
                    </a:solidFill>
                    <a:prstDash val="solid"/>
                  </a:ln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 eaLnBrk="1" fontAlgn="auto" hangingPunct="1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  <a:defRPr/>
                    </a:pPr>
                    <a:r>
                      <a:rPr lang="en-GB" sz="1000" b="1" kern="0">
                        <a:solidFill>
                          <a:sysClr val="windowText" lastClr="000000"/>
                        </a:solidFill>
                        <a:latin typeface="Calibri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“I’m going to do it anyway”</a:t>
                    </a:r>
                    <a:endParaRPr lang="en-US" sz="1100" kern="0">
                      <a:solidFill>
                        <a:sysClr val="windowText" lastClr="000000"/>
                      </a:solidFill>
                      <a:latin typeface="Calibri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AE0DBB4D-DF13-4491-BF6F-895BC4EAFC33}"/>
                    </a:ext>
                  </a:extLst>
                </p:cNvPr>
                <p:cNvSpPr/>
                <p:nvPr/>
              </p:nvSpPr>
              <p:spPr>
                <a:xfrm>
                  <a:off x="-166765" y="1181149"/>
                  <a:ext cx="1326933" cy="1180918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BBB59">
                        <a:tint val="50000"/>
                        <a:satMod val="300000"/>
                      </a:srgbClr>
                    </a:gs>
                    <a:gs pos="35000">
                      <a:srgbClr val="9BBB59">
                        <a:tint val="37000"/>
                        <a:satMod val="300000"/>
                      </a:srgbClr>
                    </a:gs>
                    <a:gs pos="100000">
                      <a:srgbClr val="9BBB59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ln w="38100" cap="flat" cmpd="sng" algn="ctr">
                  <a:solidFill>
                    <a:srgbClr val="9BBB59">
                      <a:shade val="95000"/>
                      <a:satMod val="105000"/>
                    </a:srgbClr>
                  </a:solidFill>
                  <a:prstDash val="dash"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anchor="ctr"/>
                <a:lstStyle/>
                <a:p>
                  <a:pPr algn="ctr" eaLnBrk="1" fontAlgn="auto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defRPr/>
                  </a:pPr>
                  <a:r>
                    <a:rPr lang="en-GB" sz="1000" b="1" kern="0" dirty="0">
                      <a:solidFill>
                        <a:sysClr val="windowText" lastClr="000000"/>
                      </a:solidFill>
                      <a:latin typeface="Calibri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  Do more</a:t>
                  </a:r>
                </a:p>
                <a:p>
                  <a:pPr algn="ctr" eaLnBrk="1" fontAlgn="auto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defRPr/>
                  </a:pPr>
                  <a:r>
                    <a:rPr lang="en-GB" sz="1000" b="1" kern="0" dirty="0">
                      <a:solidFill>
                        <a:sysClr val="windowText" lastClr="000000"/>
                      </a:solidFill>
                      <a:latin typeface="Calibri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Pleasant Events</a:t>
                  </a:r>
                  <a:endParaRPr lang="en-US" sz="1100" kern="0" dirty="0">
                    <a:solidFill>
                      <a:sysClr val="windowText" lastClr="000000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Right Arrow 39">
                  <a:extLst>
                    <a:ext uri="{FF2B5EF4-FFF2-40B4-BE49-F238E27FC236}">
                      <a16:creationId xmlns:a16="http://schemas.microsoft.com/office/drawing/2014/main" id="{783001A9-965F-4668-9A28-F32763495585}"/>
                    </a:ext>
                  </a:extLst>
                </p:cNvPr>
                <p:cNvSpPr/>
                <p:nvPr/>
              </p:nvSpPr>
              <p:spPr>
                <a:xfrm>
                  <a:off x="1410055" y="1875346"/>
                  <a:ext cx="722774" cy="53500"/>
                </a:xfrm>
                <a:prstGeom prst="rightArrow">
                  <a:avLst/>
                </a:prstGeom>
                <a:gradFill rotWithShape="1">
                  <a:gsLst>
                    <a:gs pos="0">
                      <a:srgbClr val="9BBB59">
                        <a:shade val="51000"/>
                        <a:satMod val="130000"/>
                      </a:srgbClr>
                    </a:gs>
                    <a:gs pos="80000">
                      <a:srgbClr val="9BBB59">
                        <a:shade val="93000"/>
                        <a:satMod val="130000"/>
                      </a:srgbClr>
                    </a:gs>
                    <a:gs pos="100000">
                      <a:srgbClr val="9BBB59">
                        <a:shade val="94000"/>
                        <a:satMod val="135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9BBB59">
                      <a:shade val="95000"/>
                      <a:satMod val="105000"/>
                    </a:srgb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kern="0">
                    <a:solidFill>
                      <a:sysClr val="window" lastClr="FFFFFF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41" name="Right Arrow 40">
                  <a:extLst>
                    <a:ext uri="{FF2B5EF4-FFF2-40B4-BE49-F238E27FC236}">
                      <a16:creationId xmlns:a16="http://schemas.microsoft.com/office/drawing/2014/main" id="{58051063-9485-4C02-9D16-CA5316F7315E}"/>
                    </a:ext>
                  </a:extLst>
                </p:cNvPr>
                <p:cNvSpPr/>
                <p:nvPr/>
              </p:nvSpPr>
              <p:spPr>
                <a:xfrm rot="18959009">
                  <a:off x="238115" y="706172"/>
                  <a:ext cx="722775" cy="52195"/>
                </a:xfrm>
                <a:prstGeom prst="rightArrow">
                  <a:avLst/>
                </a:prstGeom>
                <a:gradFill rotWithShape="1">
                  <a:gsLst>
                    <a:gs pos="0">
                      <a:srgbClr val="9BBB59">
                        <a:shade val="51000"/>
                        <a:satMod val="130000"/>
                      </a:srgbClr>
                    </a:gs>
                    <a:gs pos="80000">
                      <a:srgbClr val="9BBB59">
                        <a:shade val="93000"/>
                        <a:satMod val="130000"/>
                      </a:srgbClr>
                    </a:gs>
                    <a:gs pos="100000">
                      <a:srgbClr val="9BBB59">
                        <a:shade val="94000"/>
                        <a:satMod val="135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9BBB59">
                      <a:shade val="95000"/>
                      <a:satMod val="105000"/>
                    </a:srgb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kern="0">
                    <a:solidFill>
                      <a:sysClr val="window" lastClr="FFFFFF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42" name="Right Arrow 41">
                  <a:extLst>
                    <a:ext uri="{FF2B5EF4-FFF2-40B4-BE49-F238E27FC236}">
                      <a16:creationId xmlns:a16="http://schemas.microsoft.com/office/drawing/2014/main" id="{BF6BC146-0CE5-4FCF-98BD-819025E8F1D7}"/>
                    </a:ext>
                  </a:extLst>
                </p:cNvPr>
                <p:cNvSpPr/>
                <p:nvPr/>
              </p:nvSpPr>
              <p:spPr>
                <a:xfrm rot="10800000">
                  <a:off x="1410055" y="1723980"/>
                  <a:ext cx="722774" cy="53500"/>
                </a:xfrm>
                <a:prstGeom prst="rightArrow">
                  <a:avLst/>
                </a:prstGeom>
                <a:gradFill rotWithShape="1">
                  <a:gsLst>
                    <a:gs pos="0">
                      <a:srgbClr val="9BBB59">
                        <a:shade val="51000"/>
                        <a:satMod val="130000"/>
                      </a:srgbClr>
                    </a:gs>
                    <a:gs pos="80000">
                      <a:srgbClr val="9BBB59">
                        <a:shade val="93000"/>
                        <a:satMod val="130000"/>
                      </a:srgbClr>
                    </a:gs>
                    <a:gs pos="100000">
                      <a:srgbClr val="9BBB59">
                        <a:shade val="94000"/>
                        <a:satMod val="135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9BBB59">
                      <a:shade val="95000"/>
                      <a:satMod val="105000"/>
                    </a:srgb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kern="0">
                    <a:solidFill>
                      <a:sysClr val="window" lastClr="FFFFFF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43" name="Right Arrow 42">
                  <a:extLst>
                    <a:ext uri="{FF2B5EF4-FFF2-40B4-BE49-F238E27FC236}">
                      <a16:creationId xmlns:a16="http://schemas.microsoft.com/office/drawing/2014/main" id="{F97C54CF-D60A-4226-98BB-870A61013F22}"/>
                    </a:ext>
                  </a:extLst>
                </p:cNvPr>
                <p:cNvSpPr/>
                <p:nvPr/>
              </p:nvSpPr>
              <p:spPr>
                <a:xfrm rot="8044088" flipV="1">
                  <a:off x="362065" y="789509"/>
                  <a:ext cx="721600" cy="61681"/>
                </a:xfrm>
                <a:prstGeom prst="rightArrow">
                  <a:avLst/>
                </a:prstGeom>
                <a:gradFill rotWithShape="1">
                  <a:gsLst>
                    <a:gs pos="0">
                      <a:srgbClr val="9BBB59">
                        <a:shade val="51000"/>
                        <a:satMod val="130000"/>
                      </a:srgbClr>
                    </a:gs>
                    <a:gs pos="80000">
                      <a:srgbClr val="9BBB59">
                        <a:shade val="93000"/>
                        <a:satMod val="130000"/>
                      </a:srgbClr>
                    </a:gs>
                    <a:gs pos="100000">
                      <a:srgbClr val="9BBB59">
                        <a:shade val="94000"/>
                        <a:satMod val="135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9BBB59">
                      <a:shade val="95000"/>
                      <a:satMod val="105000"/>
                    </a:srgb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kern="0">
                    <a:solidFill>
                      <a:sysClr val="window" lastClr="FFFFFF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44" name="Right Arrow 43">
                  <a:extLst>
                    <a:ext uri="{FF2B5EF4-FFF2-40B4-BE49-F238E27FC236}">
                      <a16:creationId xmlns:a16="http://schemas.microsoft.com/office/drawing/2014/main" id="{61C53330-5DE9-427E-A723-D629EBD5E188}"/>
                    </a:ext>
                  </a:extLst>
                </p:cNvPr>
                <p:cNvSpPr/>
                <p:nvPr/>
              </p:nvSpPr>
              <p:spPr>
                <a:xfrm rot="2710595" flipV="1">
                  <a:off x="2354046" y="808370"/>
                  <a:ext cx="721599" cy="47447"/>
                </a:xfrm>
                <a:prstGeom prst="rightArrow">
                  <a:avLst/>
                </a:prstGeom>
                <a:gradFill rotWithShape="1">
                  <a:gsLst>
                    <a:gs pos="0">
                      <a:srgbClr val="9BBB59">
                        <a:shade val="51000"/>
                        <a:satMod val="130000"/>
                      </a:srgbClr>
                    </a:gs>
                    <a:gs pos="80000">
                      <a:srgbClr val="9BBB59">
                        <a:shade val="93000"/>
                        <a:satMod val="130000"/>
                      </a:srgbClr>
                    </a:gs>
                    <a:gs pos="100000">
                      <a:srgbClr val="9BBB59">
                        <a:shade val="94000"/>
                        <a:satMod val="135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9BBB59">
                      <a:shade val="95000"/>
                      <a:satMod val="105000"/>
                    </a:srgb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kern="0">
                    <a:solidFill>
                      <a:sysClr val="window" lastClr="FFFFFF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45" name="Right Arrow 44">
                  <a:extLst>
                    <a:ext uri="{FF2B5EF4-FFF2-40B4-BE49-F238E27FC236}">
                      <a16:creationId xmlns:a16="http://schemas.microsoft.com/office/drawing/2014/main" id="{73B28F77-D46C-4890-BFD1-C4AE46943E6D}"/>
                    </a:ext>
                  </a:extLst>
                </p:cNvPr>
                <p:cNvSpPr/>
                <p:nvPr/>
              </p:nvSpPr>
              <p:spPr>
                <a:xfrm rot="13473012">
                  <a:off x="2438072" y="695733"/>
                  <a:ext cx="722774" cy="44366"/>
                </a:xfrm>
                <a:prstGeom prst="rightArrow">
                  <a:avLst/>
                </a:prstGeom>
                <a:gradFill rotWithShape="1">
                  <a:gsLst>
                    <a:gs pos="0">
                      <a:srgbClr val="9BBB59">
                        <a:shade val="51000"/>
                        <a:satMod val="130000"/>
                      </a:srgbClr>
                    </a:gs>
                    <a:gs pos="80000">
                      <a:srgbClr val="9BBB59">
                        <a:shade val="93000"/>
                        <a:satMod val="130000"/>
                      </a:srgbClr>
                    </a:gs>
                    <a:gs pos="100000">
                      <a:srgbClr val="9BBB59">
                        <a:shade val="94000"/>
                        <a:satMod val="135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9BBB59">
                      <a:shade val="95000"/>
                      <a:satMod val="105000"/>
                    </a:srgb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800" kern="0">
                    <a:solidFill>
                      <a:sysClr val="window" lastClr="FFFFFF"/>
                    </a:solidFill>
                    <a:latin typeface="Calibri"/>
                    <a:ea typeface="+mn-ea"/>
                  </a:endParaRPr>
                </a:p>
              </p:txBody>
            </p:sp>
          </p:grpSp>
          <p:sp>
            <p:nvSpPr>
              <p:cNvPr id="37" name="Right Arrow 36">
                <a:extLst>
                  <a:ext uri="{FF2B5EF4-FFF2-40B4-BE49-F238E27FC236}">
                    <a16:creationId xmlns:a16="http://schemas.microsoft.com/office/drawing/2014/main" id="{72BB1663-C920-4036-8AAE-771E834C9D3F}"/>
                  </a:ext>
                </a:extLst>
              </p:cNvPr>
              <p:cNvSpPr/>
              <p:nvPr/>
            </p:nvSpPr>
            <p:spPr>
              <a:xfrm>
                <a:off x="2861733" y="1380066"/>
                <a:ext cx="1362710" cy="1056936"/>
              </a:xfrm>
              <a:prstGeom prst="rightArrow">
                <a:avLst/>
              </a:prstGeom>
              <a:solidFill>
                <a:srgbClr val="4BACC6">
                  <a:lumMod val="75000"/>
                </a:srgbClr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anchor="ctr"/>
              <a:lstStyle/>
              <a:p>
                <a:pPr algn="ctr" eaLnBrk="1" fontAlgn="auto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defRPr/>
                </a:pPr>
                <a:r>
                  <a:rPr lang="en-GB" sz="1400" b="1" kern="0" dirty="0">
                    <a:solidFill>
                      <a:sysClr val="window" lastClr="FFFFFF"/>
                    </a:solidFill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Pleasant Events</a:t>
                </a:r>
                <a:endParaRPr lang="en-US" sz="1100" kern="0" dirty="0">
                  <a:solidFill>
                    <a:sysClr val="window" lastClr="FFFFFF"/>
                  </a:solidFill>
                  <a:latin typeface="Calibri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Text Box 2">
              <a:extLst>
                <a:ext uri="{FF2B5EF4-FFF2-40B4-BE49-F238E27FC236}">
                  <a16:creationId xmlns:a16="http://schemas.microsoft.com/office/drawing/2014/main" id="{6CD508A1-74EC-44A6-A8A7-A20473F6C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250" y="50800"/>
              <a:ext cx="2454904" cy="3123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GB" sz="1400" b="1" kern="0">
                  <a:solidFill>
                    <a:sysClr val="windowText" lastClr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Vicious cycle of depression</a:t>
              </a:r>
              <a:endParaRPr lang="en-US" sz="1100" kern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Box 2">
              <a:extLst>
                <a:ext uri="{FF2B5EF4-FFF2-40B4-BE49-F238E27FC236}">
                  <a16:creationId xmlns:a16="http://schemas.microsoft.com/office/drawing/2014/main" id="{16C6E4FC-3AF9-4393-9987-4C6666257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100" y="50800"/>
              <a:ext cx="2253682" cy="3123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GB" sz="1400" b="1" kern="0">
                  <a:solidFill>
                    <a:sysClr val="windowText" lastClr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Positive cycle of activity</a:t>
              </a:r>
              <a:endParaRPr lang="en-US" sz="1100" kern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5A50A2D2-09B5-84E4-51AE-E5B0FB03E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63" y="141288"/>
            <a:ext cx="8758237" cy="1143000"/>
          </a:xfrm>
        </p:spPr>
        <p:txBody>
          <a:bodyPr/>
          <a:lstStyle/>
          <a:p>
            <a:r>
              <a:rPr lang="en-US" altLang="en-US" sz="3600" b="1"/>
              <a:t>+ support from Gilbert Ryle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4E587-D23B-44CE-B2D4-3227562CA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663" y="1819275"/>
            <a:ext cx="3389312" cy="4275138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/>
              <a:t>Thoughts/feelings are not causes but actually consequences of our actions/experiences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/>
              <a:t>– Gilbert Ryle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lvl="4">
              <a:defRPr/>
            </a:pPr>
            <a:endParaRPr lang="en-US" sz="2600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D3AB4DB2-C6A7-5D87-9B1E-C5BF12FF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63" y="141288"/>
            <a:ext cx="8758237" cy="1143000"/>
          </a:xfrm>
        </p:spPr>
        <p:txBody>
          <a:bodyPr/>
          <a:lstStyle/>
          <a:p>
            <a:r>
              <a:rPr lang="en-US" altLang="en-US" sz="3600" b="1"/>
              <a:t>+ support from Gilbert Ryle &amp; Charlie Brown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BE1C8-8AE7-4897-A355-7EF53E75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663" y="1819275"/>
            <a:ext cx="3389312" cy="4275138"/>
          </a:xfrm>
        </p:spPr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/>
              <a:t>Thoughts/feelings are not causes but actually consequences of our actions/experiences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/>
              <a:t>– Gilbert Ryle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lvl="4">
              <a:defRPr/>
            </a:pPr>
            <a:endParaRPr lang="en-US" sz="2600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E6AEEE43-F54F-A311-2C97-C0046223A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4"/>
          <a:stretch>
            <a:fillRect/>
          </a:stretch>
        </p:blipFill>
        <p:spPr bwMode="auto">
          <a:xfrm>
            <a:off x="3763963" y="1631950"/>
            <a:ext cx="5214937" cy="446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C37EB3F-33D8-96F3-D64C-6C86821F0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ctr"/>
            <a:r>
              <a:rPr lang="en-US" altLang="en-US" b="1"/>
              <a:t>Not everyone Agreed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933C6EE5-8B70-277B-1092-9ED70908F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981200"/>
            <a:ext cx="8534400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19088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DD8047"/>
              </a:buClr>
            </a:pPr>
            <a:r>
              <a:rPr lang="en-US" altLang="en-US" sz="2800">
                <a:solidFill>
                  <a:srgbClr val="000000"/>
                </a:solidFill>
              </a:rPr>
              <a:t>Purely behavioral approaches did not endure and over time, cognitive interventions were integrated</a:t>
            </a:r>
          </a:p>
          <a:p>
            <a:pPr>
              <a:buClr>
                <a:srgbClr val="DD8047"/>
              </a:buClr>
            </a:pPr>
            <a:endParaRPr lang="en-US" altLang="en-US" sz="2800">
              <a:solidFill>
                <a:srgbClr val="000000"/>
              </a:solidFill>
            </a:endParaRPr>
          </a:p>
          <a:p>
            <a:pPr>
              <a:buClr>
                <a:srgbClr val="DD8047"/>
              </a:buClr>
            </a:pPr>
            <a:r>
              <a:rPr lang="en-US" altLang="en-US" sz="2800">
                <a:solidFill>
                  <a:srgbClr val="000000"/>
                </a:solidFill>
              </a:rPr>
              <a:t>As Lewinsohn and colleagues work developed, even it incorporated more and more cognitive techniques</a:t>
            </a:r>
          </a:p>
          <a:p>
            <a:pPr>
              <a:buClr>
                <a:srgbClr val="DD8047"/>
              </a:buClr>
            </a:pPr>
            <a:endParaRPr lang="en-US" altLang="en-US" sz="2800">
              <a:solidFill>
                <a:srgbClr val="000000"/>
              </a:solidFill>
            </a:endParaRPr>
          </a:p>
          <a:p>
            <a:pPr>
              <a:buClr>
                <a:srgbClr val="DD8047"/>
              </a:buClr>
            </a:pPr>
            <a:r>
              <a:rPr lang="en-US" altLang="en-US" sz="2800">
                <a:solidFill>
                  <a:srgbClr val="000000"/>
                </a:solidFill>
              </a:rPr>
              <a:t>In some cases, the behavioral components were dropped altogether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F29AD1B1-5318-C893-E590-CE65E912FAC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1828800"/>
            <a:ext cx="8458200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Jacobson et al., 1996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Component analysis of (CBT) for depression</a:t>
            </a:r>
            <a:endParaRPr lang="en-US" altLang="en-US" sz="2100" u="sng" dirty="0"/>
          </a:p>
          <a:p>
            <a:pPr lvl="1">
              <a:lnSpc>
                <a:spcPct val="80000"/>
              </a:lnSpc>
            </a:pPr>
            <a:r>
              <a:rPr lang="en-US" altLang="en-US" sz="2100" u="sng" dirty="0"/>
              <a:t>Conditions (with 152 randomly assigned depressed outpatients)</a:t>
            </a:r>
            <a:endParaRPr lang="en-US" altLang="en-US" sz="2100" dirty="0"/>
          </a:p>
          <a:p>
            <a:pPr lvl="2">
              <a:lnSpc>
                <a:spcPct val="80000"/>
              </a:lnSpc>
              <a:buFontTx/>
              <a:buAutoNum type="arabicPeriod"/>
            </a:pPr>
            <a:r>
              <a:rPr lang="en-US" altLang="en-US" sz="2100" dirty="0"/>
              <a:t>Behavioral Component (BC)</a:t>
            </a:r>
          </a:p>
          <a:p>
            <a:pPr lvl="2">
              <a:lnSpc>
                <a:spcPct val="80000"/>
              </a:lnSpc>
              <a:buFontTx/>
              <a:buAutoNum type="arabicPeriod"/>
            </a:pPr>
            <a:r>
              <a:rPr lang="en-US" altLang="en-US" sz="2100" dirty="0"/>
              <a:t>BC </a:t>
            </a:r>
            <a:r>
              <a:rPr lang="en-US" altLang="en-US" sz="2100" i="1" dirty="0"/>
              <a:t>+</a:t>
            </a:r>
            <a:r>
              <a:rPr lang="en-US" altLang="en-US" sz="2100" dirty="0"/>
              <a:t> modification of dysfunctional automatic thoughts (BC+AT)</a:t>
            </a:r>
          </a:p>
          <a:p>
            <a:pPr lvl="2">
              <a:lnSpc>
                <a:spcPct val="80000"/>
              </a:lnSpc>
              <a:buFontTx/>
              <a:buAutoNum type="arabicPeriod"/>
            </a:pPr>
            <a:r>
              <a:rPr lang="en-US" altLang="en-US" sz="2100" dirty="0"/>
              <a:t>Entire CBT package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Key finding: BC = BC+AT = Full</a:t>
            </a:r>
            <a:endParaRPr lang="en-US" altLang="en-US" sz="2400" dirty="0"/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 err="1"/>
              <a:t>Gortner</a:t>
            </a:r>
            <a:r>
              <a:rPr lang="en-US" altLang="en-US" sz="2400" dirty="0"/>
              <a:t> et al., 1998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These findings persisted over time</a:t>
            </a:r>
          </a:p>
          <a:p>
            <a:pPr>
              <a:lnSpc>
                <a:spcPct val="80000"/>
              </a:lnSpc>
            </a:pPr>
            <a:endParaRPr lang="en-US" altLang="en-US" sz="24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3F8879F-CE99-ABBA-9F79-155BF4C0DD9A}"/>
              </a:ext>
            </a:extLst>
          </p:cNvPr>
          <p:cNvSpPr txBox="1">
            <a:spLocks/>
          </p:cNvSpPr>
          <p:nvPr/>
        </p:nvSpPr>
        <p:spPr bwMode="auto">
          <a:xfrm>
            <a:off x="685800" y="228600"/>
            <a:ext cx="8001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MS PGothic" panose="020B0600070205080204" pitchFamily="34" charset="-128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MS PGothic" panose="020B0600070205080204" pitchFamily="34" charset="-128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MS PGothic" panose="020B0600070205080204" pitchFamily="34" charset="-128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pPr algn="ctr"/>
            <a:r>
              <a:rPr lang="en-US" altLang="en-US" sz="4000" dirty="0"/>
              <a:t>Data that Changed the Conversation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93484CD-35BB-9F02-13BA-58A95C229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85800"/>
          </a:xfrm>
        </p:spPr>
        <p:txBody>
          <a:bodyPr/>
          <a:lstStyle/>
          <a:p>
            <a:pPr algn="ctr"/>
            <a:r>
              <a:rPr lang="en-US" altLang="en-US" sz="4000"/>
              <a:t>Additional Data that Further </a:t>
            </a:r>
            <a:br>
              <a:rPr lang="en-US" altLang="en-US" sz="4000"/>
            </a:br>
            <a:r>
              <a:rPr lang="en-US" altLang="en-US" sz="4000"/>
              <a:t>Changed the Conversation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4A8787A-50F5-4FF4-9362-33346A96973B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04800" y="1828800"/>
            <a:ext cx="8534400" cy="48768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altLang="en-US" sz="2400" dirty="0"/>
              <a:t>Dimidjian et al. (2006)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en-US" sz="2000" dirty="0"/>
              <a:t>Replication: BA Again comparable to cognitive therapy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en-US" sz="2000" dirty="0"/>
              <a:t>Extension I: BA Comparable to medication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en-US" sz="2000" dirty="0"/>
              <a:t>Extension II: Compared to cognitive therapy, BA outperformed cognitive therapy among those </a:t>
            </a:r>
            <a:r>
              <a:rPr lang="en-US" altLang="en-US" sz="2000" u="sng" dirty="0"/>
              <a:t>with more severe depression</a:t>
            </a:r>
            <a:r>
              <a:rPr lang="en-US" altLang="en-US" sz="2000" dirty="0"/>
              <a:t>  </a:t>
            </a:r>
          </a:p>
          <a:p>
            <a:pPr lvl="1">
              <a:lnSpc>
                <a:spcPct val="80000"/>
              </a:lnSpc>
              <a:defRPr/>
            </a:pPr>
            <a:endParaRPr lang="en-US" altLang="en-US" sz="800" dirty="0"/>
          </a:p>
          <a:p>
            <a:pPr>
              <a:lnSpc>
                <a:spcPct val="80000"/>
              </a:lnSpc>
              <a:defRPr/>
            </a:pPr>
            <a:r>
              <a:rPr lang="en-US" altLang="en-US" sz="2400" dirty="0" err="1"/>
              <a:t>Ekers</a:t>
            </a:r>
            <a:r>
              <a:rPr lang="en-US" altLang="en-US" sz="2400" dirty="0"/>
              <a:t> et al. (2014)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en-US" sz="2000" dirty="0"/>
              <a:t>Meta-analysis of 26 </a:t>
            </a:r>
            <a:r>
              <a:rPr lang="en-US" sz="2000" dirty="0"/>
              <a:t>randomized controlled trials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000" dirty="0"/>
              <a:t>BA was at worst comparable to cognitive therapy &amp; medication</a:t>
            </a:r>
            <a:endParaRPr lang="en-US" altLang="en-US" sz="2000" dirty="0"/>
          </a:p>
          <a:p>
            <a:pPr>
              <a:lnSpc>
                <a:spcPct val="80000"/>
              </a:lnSpc>
              <a:defRPr/>
            </a:pPr>
            <a:endParaRPr lang="en-US" altLang="en-US" sz="800" dirty="0"/>
          </a:p>
          <a:p>
            <a:pPr>
              <a:lnSpc>
                <a:spcPct val="80000"/>
              </a:lnSpc>
              <a:defRPr/>
            </a:pPr>
            <a:r>
              <a:rPr lang="en-US" altLang="en-US" sz="2400" dirty="0"/>
              <a:t>Richards et al. (2014)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000" dirty="0"/>
              <a:t>BA can be delivered by junior mental health workers with less intensive and</a:t>
            </a:r>
          </a:p>
          <a:p>
            <a:pPr lvl="1">
              <a:lnSpc>
                <a:spcPct val="80000"/>
              </a:lnSpc>
              <a:defRPr/>
            </a:pPr>
            <a:endParaRPr lang="en-US" altLang="en-US" sz="800" dirty="0"/>
          </a:p>
          <a:p>
            <a:pPr>
              <a:lnSpc>
                <a:spcPct val="80000"/>
              </a:lnSpc>
              <a:defRPr/>
            </a:pPr>
            <a:r>
              <a:rPr lang="en-US" altLang="en-US" sz="2400" dirty="0"/>
              <a:t>A range of additional more recent studies have followed these important foundational studies</a:t>
            </a:r>
            <a:endParaRPr lang="en-US" sz="2000" dirty="0"/>
          </a:p>
          <a:p>
            <a:pPr lvl="1">
              <a:lnSpc>
                <a:spcPct val="80000"/>
              </a:lnSpc>
              <a:defRPr/>
            </a:pPr>
            <a:endParaRPr lang="en-US" sz="2000" dirty="0"/>
          </a:p>
          <a:p>
            <a:pPr lvl="1">
              <a:lnSpc>
                <a:spcPct val="80000"/>
              </a:lnSpc>
              <a:defRPr/>
            </a:pPr>
            <a:endParaRPr lang="en-US" sz="1800" dirty="0"/>
          </a:p>
          <a:p>
            <a:pPr>
              <a:lnSpc>
                <a:spcPct val="80000"/>
              </a:lnSpc>
              <a:defRPr/>
            </a:pPr>
            <a:endParaRPr lang="en-US" altLang="en-US" sz="2000" dirty="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sz="200" dirty="0"/>
          </a:p>
          <a:p>
            <a:pPr>
              <a:lnSpc>
                <a:spcPct val="80000"/>
              </a:lnSpc>
              <a:defRPr/>
            </a:pPr>
            <a:endParaRPr lang="en-US" altLang="en-US" sz="300" dirty="0"/>
          </a:p>
          <a:p>
            <a:pPr>
              <a:lnSpc>
                <a:spcPct val="80000"/>
              </a:lnSpc>
              <a:defRPr/>
            </a:pPr>
            <a:endParaRPr lang="en-US" altLang="en-US" sz="1800" dirty="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sz="2100" dirty="0"/>
          </a:p>
          <a:p>
            <a:pPr lvl="1">
              <a:lnSpc>
                <a:spcPct val="80000"/>
              </a:lnSpc>
              <a:defRPr/>
            </a:pPr>
            <a:endParaRPr lang="en-US" altLang="en-US" sz="2100" dirty="0"/>
          </a:p>
          <a:p>
            <a:pPr lvl="1">
              <a:lnSpc>
                <a:spcPct val="80000"/>
              </a:lnSpc>
              <a:defRPr/>
            </a:pPr>
            <a:endParaRPr lang="en-US" alt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4D25313-CCBA-7C01-8943-5C981F33C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/>
          <a:lstStyle/>
          <a:p>
            <a:pPr algn="ctr"/>
            <a:r>
              <a:rPr lang="en-US" altLang="en-US" sz="4000"/>
              <a:t>What is Behavioral Activation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331EAA8-083A-2282-D8D3-F506B867164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86800" cy="4419600"/>
          </a:xfrm>
        </p:spPr>
        <p:txBody>
          <a:bodyPr/>
          <a:lstStyle/>
          <a:p>
            <a:r>
              <a:rPr lang="en-US" altLang="en-US" sz="2000" dirty="0"/>
              <a:t>Originally a behavioral treatment for depression: 20+ session BA protocol </a:t>
            </a:r>
          </a:p>
          <a:p>
            <a:pPr lvl="1"/>
            <a:r>
              <a:rPr lang="en-US" altLang="en-US" sz="1700" dirty="0"/>
              <a:t>Jacobson et al., 1996l Martell &amp; Addis, 2001; Martell, </a:t>
            </a:r>
            <a:r>
              <a:rPr lang="en-US" altLang="en-US" sz="1700" dirty="0" err="1"/>
              <a:t>Dimidjian</a:t>
            </a:r>
            <a:r>
              <a:rPr lang="en-US" altLang="en-US" sz="1700" dirty="0"/>
              <a:t>, &amp; Herman-Dunn, 2010</a:t>
            </a:r>
          </a:p>
          <a:p>
            <a:endParaRPr lang="en-US" altLang="en-US" sz="1000" dirty="0"/>
          </a:p>
          <a:p>
            <a:r>
              <a:rPr lang="en-US" altLang="en-US" sz="2000" dirty="0"/>
              <a:t>From this work, BA can be loosely defined as a set of strategies that engender positive behaviors that include:</a:t>
            </a:r>
          </a:p>
          <a:p>
            <a:pPr lvl="1"/>
            <a:r>
              <a:rPr lang="en-US" altLang="en-US" sz="1700" dirty="0"/>
              <a:t>monitoring of daily activities</a:t>
            </a:r>
          </a:p>
          <a:p>
            <a:pPr lvl="1"/>
            <a:r>
              <a:rPr lang="en-US" altLang="en-US" sz="1700" dirty="0"/>
              <a:t>assessment of pleasure and mastery that is achieved by engaging in a variety of activities</a:t>
            </a:r>
          </a:p>
          <a:p>
            <a:pPr lvl="1"/>
            <a:r>
              <a:rPr lang="en-US" altLang="en-US" sz="1700" dirty="0"/>
              <a:t>assignment of increasingly difficult tasks to engender sense of pleasure or mastery</a:t>
            </a:r>
          </a:p>
          <a:p>
            <a:pPr lvl="1"/>
            <a:r>
              <a:rPr lang="en-US" altLang="en-US" sz="1700" dirty="0"/>
              <a:t>discussion of specific problems and the prescription of relevant BA techniques</a:t>
            </a:r>
          </a:p>
          <a:p>
            <a:endParaRPr lang="en-US" altLang="en-US" sz="1000" dirty="0"/>
          </a:p>
          <a:p>
            <a:r>
              <a:rPr lang="en-US" altLang="en-US" sz="2000" dirty="0"/>
              <a:t>BA also places emphasis on:</a:t>
            </a:r>
          </a:p>
          <a:p>
            <a:pPr lvl="1"/>
            <a:r>
              <a:rPr lang="en-US" altLang="en-US" sz="1700" dirty="0"/>
              <a:t>Standard BA activation components including in-session efforts to target/disrupt avoidance</a:t>
            </a:r>
          </a:p>
          <a:p>
            <a:pPr lvl="1"/>
            <a:r>
              <a:rPr lang="en-US" altLang="en-US" sz="1700" dirty="0"/>
              <a:t>Strategies more indirectly related to BA including: periodic distraction from problems/unpleasant events, mindfulness training, skills training, cognitive rehearsal of scheduled activities, and self-reinforcement</a:t>
            </a:r>
          </a:p>
          <a:p>
            <a:endParaRPr lang="en-US" altLang="en-US" sz="1500" dirty="0"/>
          </a:p>
          <a:p>
            <a:endParaRPr lang="en-US" altLang="en-US" sz="2500" dirty="0"/>
          </a:p>
          <a:p>
            <a:endParaRPr lang="en-US" altLang="en-US" sz="2500" dirty="0"/>
          </a:p>
          <a:p>
            <a:pPr lvl="1"/>
            <a:endParaRPr lang="en-US" alt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A71045F-952D-FB11-E09D-DA72E3F6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/>
          <a:lstStyle/>
          <a:p>
            <a:pPr algn="ctr"/>
            <a:r>
              <a:rPr lang="en-US" altLang="en-US" sz="4000" dirty="0"/>
              <a:t>Brief Behavioral Activation (BBA)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1BC6095-5239-44C2-9B40-D1E6AF70116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28600" y="1676400"/>
            <a:ext cx="8763000" cy="434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endParaRPr lang="en-US" sz="600" dirty="0">
              <a:ea typeface="ＭＳ Ｐゴシック" pitchFamily="34" charset="-128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sz="2350" dirty="0">
                <a:ea typeface="ＭＳ Ｐゴシック" pitchFamily="34" charset="-128"/>
              </a:rPr>
              <a:t>Lejuez &amp; Hopko: Behavioral Activation Treatment for Depression (BATD)</a:t>
            </a:r>
          </a:p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Typically 5-10 sessions with strict adherence to behavioral activation theory</a:t>
            </a:r>
          </a:p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More frequently applied to a rage of conditions beyond depression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1000" dirty="0">
              <a:ea typeface="ＭＳ Ｐゴシック" pitchFamily="34" charset="-128"/>
            </a:endParaRPr>
          </a:p>
          <a:p>
            <a:pPr marL="514350" indent="-514350">
              <a:buFont typeface="Wingdings" panose="05000000000000000000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1) Consideration of key life areas</a:t>
            </a:r>
          </a:p>
          <a:p>
            <a:pPr marL="514350" indent="-514350">
              <a:buFont typeface="Wingdings" panose="05000000000000000000" pitchFamily="2" charset="2"/>
              <a:buNone/>
              <a:defRPr/>
            </a:pPr>
            <a:endParaRPr lang="en-US" sz="600" dirty="0">
              <a:ea typeface="ＭＳ Ｐゴシック" pitchFamily="34" charset="-128"/>
            </a:endParaRPr>
          </a:p>
          <a:p>
            <a:pPr marL="514350" indent="-514350">
              <a:buFont typeface="Wingdings" panose="05000000000000000000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2) Identification of values in each life area</a:t>
            </a:r>
          </a:p>
          <a:p>
            <a:pPr marL="514350" indent="-514350">
              <a:buFont typeface="Wingdings" panose="05000000000000000000" pitchFamily="2" charset="2"/>
              <a:buNone/>
              <a:defRPr/>
            </a:pPr>
            <a:endParaRPr lang="en-US" sz="600" dirty="0">
              <a:ea typeface="ＭＳ Ｐゴシック" pitchFamily="34" charset="-128"/>
            </a:endParaRPr>
          </a:p>
          <a:p>
            <a:pPr marL="514350" indent="-514350">
              <a:buFont typeface="Wingdings" panose="05000000000000000000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3) Selection and daily engagement in valued activities</a:t>
            </a:r>
          </a:p>
          <a:p>
            <a:pPr marL="514350" indent="-514350">
              <a:buFont typeface="Wingdings" panose="05000000000000000000" pitchFamily="2" charset="2"/>
              <a:buNone/>
              <a:defRPr/>
            </a:pPr>
            <a:endParaRPr lang="en-US" sz="600" dirty="0">
              <a:ea typeface="ＭＳ Ｐゴシック" pitchFamily="34" charset="-128"/>
            </a:endParaRPr>
          </a:p>
          <a:p>
            <a:pPr marL="514350" indent="-514350">
              <a:buFont typeface="Wingdings" panose="05000000000000000000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4) Structure &amp; support available to live a valued life</a:t>
            </a:r>
          </a:p>
          <a:p>
            <a:pPr>
              <a:defRPr/>
            </a:pPr>
            <a:endParaRPr lang="en-US" sz="2400" dirty="0">
              <a:ea typeface="ＭＳ Ｐゴシック" pitchFamily="34" charset="-128"/>
            </a:endParaRPr>
          </a:p>
          <a:p>
            <a:pPr marL="0" indent="0">
              <a:buNone/>
              <a:defRPr/>
            </a:pPr>
            <a:r>
              <a:rPr lang="en-US" sz="1500" dirty="0">
                <a:ea typeface="ＭＳ Ｐゴシック" pitchFamily="34" charset="-128"/>
              </a:rPr>
              <a:t>* In the process of changing the name from BATD to BBA</a:t>
            </a:r>
          </a:p>
          <a:p>
            <a:pPr>
              <a:defRPr/>
            </a:pPr>
            <a:endParaRPr lang="en-US" sz="2500" dirty="0">
              <a:ea typeface="ＭＳ Ｐゴシック" pitchFamily="34" charset="-128"/>
            </a:endParaRPr>
          </a:p>
          <a:p>
            <a:pPr>
              <a:defRPr/>
            </a:pPr>
            <a:endParaRPr lang="en-US" sz="2500" dirty="0">
              <a:ea typeface="ＭＳ Ｐゴシック" pitchFamily="34" charset="-128"/>
            </a:endParaRPr>
          </a:p>
          <a:p>
            <a:pPr lvl="1">
              <a:defRPr/>
            </a:pPr>
            <a:endParaRPr lang="en-US" sz="60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48BB5-9475-7D47-124F-88E760D36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7B84CC0-3734-A40B-DE28-FF5A20EF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/>
          <a:lstStyle/>
          <a:p>
            <a:pPr algn="ctr"/>
            <a:r>
              <a:rPr lang="en-US" altLang="en-US" sz="4000" dirty="0"/>
              <a:t>Application of BBA across Conditions (Transdiagnostic)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5A2FB624-84EB-8E67-3F27-78D3F39FC78C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28600" y="1676400"/>
            <a:ext cx="8763000" cy="434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endParaRPr lang="en-US" sz="600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sz="2400" dirty="0">
                <a:ea typeface="ＭＳ Ｐゴシック" pitchFamily="34" charset="-128"/>
              </a:rPr>
              <a:t>Soon became clear that BBA wasn’t limited to depression, with considerable work first starting with depressed substance users and then transitioning to a wide range of clinical presentations </a:t>
            </a:r>
          </a:p>
          <a:p>
            <a:pPr lvl="1">
              <a:lnSpc>
                <a:spcPct val="70000"/>
              </a:lnSpc>
            </a:pPr>
            <a:endParaRPr lang="en-US" altLang="en-US" sz="1600" dirty="0"/>
          </a:p>
          <a:p>
            <a:pPr>
              <a:defRPr/>
            </a:pPr>
            <a:endParaRPr lang="en-US" sz="2400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sz="2400" dirty="0">
                <a:ea typeface="ＭＳ Ｐゴシック" pitchFamily="34" charset="-128"/>
              </a:rPr>
              <a:t>Adjustments</a:t>
            </a:r>
          </a:p>
          <a:p>
            <a:pPr lvl="1">
              <a:defRPr/>
            </a:pPr>
            <a:r>
              <a:rPr lang="en-US" sz="2100" dirty="0">
                <a:ea typeface="ＭＳ Ｐゴシック" pitchFamily="34" charset="-128"/>
              </a:rPr>
              <a:t>Same general structure but an added focus on substance use either explicitly as a Life Area or infused into all aspects of Life Areas</a:t>
            </a:r>
          </a:p>
          <a:p>
            <a:pPr lvl="1">
              <a:defRPr/>
            </a:pPr>
            <a:r>
              <a:rPr lang="en-US" sz="2100" dirty="0">
                <a:ea typeface="ＭＳ Ｐゴシック" pitchFamily="34" charset="-128"/>
              </a:rPr>
              <a:t>Greater focus on impact of problem behaviors </a:t>
            </a:r>
          </a:p>
          <a:p>
            <a:pPr lvl="1">
              <a:defRPr/>
            </a:pPr>
            <a:r>
              <a:rPr lang="en-US" sz="2100" dirty="0">
                <a:ea typeface="ＭＳ Ｐゴシック" pitchFamily="34" charset="-128"/>
              </a:rPr>
              <a:t>Attention to experiences prior to mental health issues</a:t>
            </a:r>
          </a:p>
          <a:p>
            <a:pPr>
              <a:defRPr/>
            </a:pPr>
            <a:endParaRPr lang="en-US" sz="2400" dirty="0">
              <a:ea typeface="ＭＳ Ｐゴシック" pitchFamily="34" charset="-128"/>
            </a:endParaRPr>
          </a:p>
          <a:p>
            <a:pPr>
              <a:defRPr/>
            </a:pPr>
            <a:endParaRPr lang="en-US" sz="60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45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09188-A7A1-44E0-9138-575D05D9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3" y="215901"/>
            <a:ext cx="8197850" cy="92710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altLang="en-US" sz="3600" dirty="0"/>
              <a:t>Practice Exercise #1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4035" name="Content Placeholder 4">
            <a:extLst>
              <a:ext uri="{FF2B5EF4-FFF2-40B4-BE49-F238E27FC236}">
                <a16:creationId xmlns:a16="http://schemas.microsoft.com/office/drawing/2014/main" id="{3BF99F22-89AE-40BD-B82E-065011D3D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76400"/>
            <a:ext cx="8534400" cy="4840288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3200" dirty="0"/>
              <a:t>Imagine someone is writing your biography</a:t>
            </a:r>
          </a:p>
          <a:p>
            <a:pPr lvl="1">
              <a:spcBef>
                <a:spcPct val="0"/>
              </a:spcBef>
            </a:pPr>
            <a:endParaRPr lang="en-US" altLang="en-US" sz="2400" dirty="0"/>
          </a:p>
          <a:p>
            <a:pPr lvl="1">
              <a:spcBef>
                <a:spcPct val="0"/>
              </a:spcBef>
            </a:pPr>
            <a:r>
              <a:rPr lang="en-US" altLang="en-US" sz="2400" dirty="0"/>
              <a:t>What would you want it to say about you as a person and what you value?</a:t>
            </a:r>
          </a:p>
          <a:p>
            <a:pPr lvl="1">
              <a:spcBef>
                <a:spcPct val="0"/>
              </a:spcBef>
            </a:pPr>
            <a:endParaRPr lang="en-US" altLang="en-US" sz="2400" dirty="0"/>
          </a:p>
          <a:p>
            <a:pPr lvl="1">
              <a:spcBef>
                <a:spcPct val="0"/>
              </a:spcBef>
            </a:pPr>
            <a:r>
              <a:rPr lang="en-US" altLang="en-US" sz="2400" dirty="0"/>
              <a:t>What are examples from your life that could be used to support what it is trying to say about you? </a:t>
            </a:r>
          </a:p>
          <a:p>
            <a:pPr lvl="1">
              <a:spcBef>
                <a:spcPct val="0"/>
              </a:spcBef>
            </a:pPr>
            <a:endParaRPr lang="en-US" altLang="en-US" sz="2400" dirty="0"/>
          </a:p>
          <a:p>
            <a:pPr lvl="1">
              <a:spcBef>
                <a:spcPct val="0"/>
              </a:spcBef>
            </a:pPr>
            <a:r>
              <a:rPr lang="en-US" altLang="en-US" sz="2400" dirty="0"/>
              <a:t>Are there cases where you’d want it to say something about you as a person, but the examples are quite as good?</a:t>
            </a:r>
          </a:p>
          <a:p>
            <a:pPr>
              <a:spcBef>
                <a:spcPct val="0"/>
              </a:spcBef>
            </a:pPr>
            <a:endParaRPr lang="en-US" altLang="en-US" sz="1400" dirty="0"/>
          </a:p>
          <a:p>
            <a:pPr>
              <a:spcBef>
                <a:spcPct val="0"/>
              </a:spcBef>
            </a:pPr>
            <a:endParaRPr lang="en-US" altLang="en-US" sz="1400" dirty="0"/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 lvl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81FD-1E75-A8AE-9787-3C140C922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E4CB-CE32-A1C7-2F1B-206BB2C93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3" y="215901"/>
            <a:ext cx="8197850" cy="92710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altLang="en-US" sz="3600" dirty="0"/>
              <a:t>Poll Questions #2 &amp; #3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4035" name="Content Placeholder 4">
            <a:extLst>
              <a:ext uri="{FF2B5EF4-FFF2-40B4-BE49-F238E27FC236}">
                <a16:creationId xmlns:a16="http://schemas.microsoft.com/office/drawing/2014/main" id="{CEFEA8F0-7B7B-4091-0E5D-34A1ED106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76400"/>
            <a:ext cx="8915400" cy="4840288"/>
          </a:xfrm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1400" dirty="0"/>
          </a:p>
          <a:p>
            <a:pPr>
              <a:spcBef>
                <a:spcPct val="0"/>
              </a:spcBef>
            </a:pPr>
            <a:r>
              <a:rPr lang="en-US" altLang="en-US" dirty="0"/>
              <a:t>Poll Questions #2 and #3 (same options for both)</a:t>
            </a:r>
          </a:p>
          <a:p>
            <a:pPr>
              <a:spcBef>
                <a:spcPct val="0"/>
              </a:spcBef>
            </a:pPr>
            <a:endParaRPr lang="en-US" altLang="en-US" sz="1400" dirty="0"/>
          </a:p>
          <a:p>
            <a:pPr>
              <a:spcBef>
                <a:spcPct val="0"/>
              </a:spcBef>
            </a:pPr>
            <a:r>
              <a:rPr lang="en-US" altLang="en-US" sz="2000" dirty="0"/>
              <a:t>Q#2: In which life areas do your daily activities best match your values</a:t>
            </a:r>
          </a:p>
          <a:p>
            <a:pPr>
              <a:spcBef>
                <a:spcPct val="0"/>
              </a:spcBef>
            </a:pPr>
            <a:r>
              <a:rPr lang="en-US" altLang="en-US" sz="2000" dirty="0"/>
              <a:t>Q#3: In which life areas are your daily activities most incongruent with your values</a:t>
            </a:r>
          </a:p>
          <a:p>
            <a:pPr lvl="1">
              <a:spcBef>
                <a:spcPct val="0"/>
              </a:spcBef>
            </a:pPr>
            <a:r>
              <a:rPr lang="en-US" altLang="en-US" sz="1900" dirty="0"/>
              <a:t>Relationships </a:t>
            </a:r>
          </a:p>
          <a:p>
            <a:pPr lvl="1">
              <a:spcBef>
                <a:spcPct val="0"/>
              </a:spcBef>
            </a:pPr>
            <a:r>
              <a:rPr lang="en-US" altLang="en-US" sz="1900" dirty="0"/>
              <a:t>School / Career </a:t>
            </a:r>
          </a:p>
          <a:p>
            <a:pPr lvl="1">
              <a:spcBef>
                <a:spcPct val="0"/>
              </a:spcBef>
            </a:pPr>
            <a:r>
              <a:rPr lang="en-US" altLang="en-US" sz="1900" dirty="0"/>
              <a:t>Hobbies/ Recreation/ Helping Others</a:t>
            </a:r>
          </a:p>
          <a:p>
            <a:pPr lvl="1">
              <a:spcBef>
                <a:spcPct val="0"/>
              </a:spcBef>
            </a:pPr>
            <a:r>
              <a:rPr lang="en-US" altLang="en-US" sz="1900" dirty="0"/>
              <a:t>Mind, Body, &amp; Spirituality</a:t>
            </a:r>
          </a:p>
          <a:p>
            <a:pPr lvl="1">
              <a:spcBef>
                <a:spcPct val="0"/>
              </a:spcBef>
            </a:pPr>
            <a:r>
              <a:rPr lang="en-US" altLang="en-US" sz="1900" dirty="0"/>
              <a:t>Daily Responsibilities</a:t>
            </a:r>
          </a:p>
          <a:p>
            <a:pPr lvl="2">
              <a:spcBef>
                <a:spcPct val="0"/>
              </a:spcBef>
            </a:pPr>
            <a:endParaRPr lang="en-US" altLang="en-US" dirty="0"/>
          </a:p>
          <a:p>
            <a:pPr lvl="1"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93691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2628F80-DCD2-22D8-D7FB-785813FD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990600"/>
          </a:xfrm>
        </p:spPr>
        <p:txBody>
          <a:bodyPr/>
          <a:lstStyle/>
          <a:p>
            <a:pPr algn="ctr" eaLnBrk="1" hangingPunct="1"/>
            <a:r>
              <a:rPr lang="en-US" altLang="en-US" sz="4000" dirty="0"/>
              <a:t>Core Principles of BBA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7450C55D-74E0-920A-D0CA-B21A7376E22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76400"/>
            <a:ext cx="8686800" cy="42672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altLang="en-US" sz="2800" b="1"/>
              <a:t>Shaping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altLang="en-US" sz="2300"/>
              <a:t>Reinforcing approximations to target behavior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q"/>
            </a:pPr>
            <a:endParaRPr lang="en-US" altLang="en-US" sz="50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altLang="en-US" sz="2300"/>
              <a:t>Can include smaller approximations of final desired activity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200" b="1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altLang="en-US" sz="2800" b="1"/>
              <a:t>Fading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altLang="en-US" sz="2300"/>
              <a:t>Provide support for success every time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q"/>
            </a:pPr>
            <a:endParaRPr lang="en-US" altLang="en-US" sz="50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altLang="en-US" sz="2200"/>
              <a:t>Structure of activation strategies (monitoring)  are faded once targeted frequency/duration is attained (mastery)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q"/>
            </a:pPr>
            <a:endParaRPr lang="en-US" altLang="en-US" sz="50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altLang="en-US" sz="2200"/>
              <a:t>Therapist may need to periodically “fade in” prompts, structure, and functional analysis</a:t>
            </a:r>
          </a:p>
          <a:p>
            <a:pPr eaLnBrk="1" hangingPunct="1">
              <a:lnSpc>
                <a:spcPct val="80000"/>
              </a:lnSpc>
            </a:pPr>
            <a:endParaRPr lang="en-US" altLang="en-US" sz="1200"/>
          </a:p>
          <a:p>
            <a:pPr eaLnBrk="1" hangingPunct="1">
              <a:lnSpc>
                <a:spcPct val="80000"/>
              </a:lnSpc>
            </a:pPr>
            <a:r>
              <a:rPr lang="en-US" altLang="en-US" sz="2800" b="1"/>
              <a:t>Discounting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Rewards and punishers are discounted by delay and uncertainty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3926B0A-01DD-0EE2-6B4D-2AAFF4D1C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990600"/>
          </a:xfrm>
        </p:spPr>
        <p:txBody>
          <a:bodyPr/>
          <a:lstStyle/>
          <a:p>
            <a:pPr algn="ctr" eaLnBrk="1" hangingPunct="1"/>
            <a:r>
              <a:rPr lang="en-US" altLang="en-US" sz="4000" dirty="0"/>
              <a:t>A Note About Individualization and the Role of the BBA Therapist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FC455AEC-CBAD-E38B-4510-A20D81CE73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905000"/>
            <a:ext cx="86868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BBA is designed to be driven by the patient’</a:t>
            </a:r>
            <a:r>
              <a:rPr lang="en-US" altLang="ja-JP" sz="2800" dirty="0"/>
              <a:t>s unique history and skill set, as well as cultural and other key contextual variables</a:t>
            </a:r>
          </a:p>
          <a:p>
            <a:pPr eaLnBrk="1" hangingPunct="1">
              <a:lnSpc>
                <a:spcPct val="80000"/>
              </a:lnSpc>
            </a:pPr>
            <a:endParaRPr lang="en-US" altLang="en-US" sz="1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Therapist is guide who sets the initial framework and provides structure throughout, but BBA is a patient driven therapy, that is meant to be used flexibly*</a:t>
            </a:r>
          </a:p>
          <a:p>
            <a:pPr eaLnBrk="1" hangingPunct="1">
              <a:lnSpc>
                <a:spcPct val="80000"/>
              </a:lnSpc>
            </a:pPr>
            <a:endParaRPr lang="en-US" altLang="en-US" sz="1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For this reason, it can be used in its current format across most situations and settings</a:t>
            </a:r>
          </a:p>
          <a:p>
            <a:pPr eaLnBrk="1" hangingPunct="1">
              <a:lnSpc>
                <a:spcPct val="80000"/>
              </a:lnSpc>
            </a:pPr>
            <a:endParaRPr lang="en-US" altLang="en-US" sz="1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BBA can be a stand alone treatment or used within the context of other therapeutic approaches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C6976DF4-98B2-E614-2843-A7214F20D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33600"/>
            <a:ext cx="8153400" cy="990600"/>
          </a:xfrm>
        </p:spPr>
        <p:txBody>
          <a:bodyPr/>
          <a:lstStyle/>
          <a:p>
            <a:pPr algn="ctr" eaLnBrk="1" hangingPunct="1"/>
            <a:r>
              <a:rPr lang="en-US" altLang="en-US" sz="4000" b="1"/>
              <a:t>BATD (BBA) </a:t>
            </a:r>
            <a:br>
              <a:rPr lang="en-US" altLang="en-US" sz="4000"/>
            </a:br>
            <a:r>
              <a:rPr lang="en-US" altLang="en-US" sz="4000"/>
              <a:t>10-SESSION PROTOCOL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7C88B0BF-8CBA-2CAF-2BA9-087471DE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8001000" cy="685800"/>
          </a:xfrm>
        </p:spPr>
        <p:txBody>
          <a:bodyPr/>
          <a:lstStyle/>
          <a:p>
            <a:pPr algn="ctr" eaLnBrk="1" hangingPunct="1"/>
            <a:r>
              <a:rPr lang="en-US" altLang="en-US" sz="4000"/>
              <a:t>Session 1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3E56969-F528-496F-923B-0240BE17801B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533400" y="1981200"/>
            <a:ext cx="8001000" cy="4876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sz="2800" dirty="0">
              <a:ea typeface="+mn-ea"/>
              <a:cs typeface="+mn-cs"/>
            </a:endParaRPr>
          </a:p>
          <a:p>
            <a:pPr eaLnBrk="1" hangingPunct="1">
              <a:defRPr/>
            </a:pPr>
            <a:endParaRPr lang="en-US" sz="2800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US" sz="2800" dirty="0">
                <a:ea typeface="+mn-ea"/>
                <a:cs typeface="+mn-cs"/>
              </a:rPr>
              <a:t>Treatment Rationale</a:t>
            </a:r>
          </a:p>
          <a:p>
            <a:pPr eaLnBrk="1" hangingPunct="1">
              <a:defRPr/>
            </a:pPr>
            <a:endParaRPr lang="en-US" sz="2800" dirty="0">
              <a:ea typeface="+mn-ea"/>
              <a:cs typeface="+mn-cs"/>
            </a:endParaRPr>
          </a:p>
          <a:p>
            <a:pPr eaLnBrk="1" hangingPunct="1">
              <a:defRPr/>
            </a:pPr>
            <a:r>
              <a:rPr lang="en-US" sz="2800" dirty="0">
                <a:ea typeface="+mn-ea"/>
                <a:cs typeface="+mn-cs"/>
              </a:rPr>
              <a:t>Introduction to Behavior Monitoring</a:t>
            </a:r>
          </a:p>
          <a:p>
            <a:pPr eaLnBrk="1" hangingPunct="1">
              <a:defRPr/>
            </a:pPr>
            <a:endParaRPr lang="en-US" dirty="0">
              <a:solidFill>
                <a:srgbClr val="FF0000"/>
              </a:solidFill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A8592088-68D0-6289-55B3-D4C3BDC6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ctr"/>
            <a:r>
              <a:rPr lang="en-US" altLang="en-US" sz="4000"/>
              <a:t>Treatment 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ADE33-FD4F-464B-B620-4AD6B14479D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524000"/>
            <a:ext cx="8686799" cy="5029200"/>
          </a:xfrm>
        </p:spPr>
        <p:txBody>
          <a:bodyPr/>
          <a:lstStyle/>
          <a:p>
            <a:pPr>
              <a:defRPr/>
            </a:pPr>
            <a:r>
              <a:rPr lang="en-US" sz="2200" dirty="0">
                <a:ea typeface="+mn-ea"/>
                <a:cs typeface="+mn-cs"/>
              </a:rPr>
              <a:t>Adjustment of conceptual model from pleasant events to valued activities</a:t>
            </a:r>
          </a:p>
          <a:p>
            <a:pPr>
              <a:defRPr/>
            </a:pPr>
            <a:endParaRPr lang="en-US" sz="2200" dirty="0"/>
          </a:p>
          <a:p>
            <a:pPr>
              <a:defRPr/>
            </a:pPr>
            <a:endParaRPr lang="en-US" sz="2200" dirty="0"/>
          </a:p>
          <a:p>
            <a:pPr>
              <a:defRPr/>
            </a:pPr>
            <a:endParaRPr lang="en-US" sz="2200" dirty="0"/>
          </a:p>
          <a:p>
            <a:pPr>
              <a:defRPr/>
            </a:pPr>
            <a:endParaRPr lang="en-US" sz="2200" dirty="0"/>
          </a:p>
          <a:p>
            <a:pPr>
              <a:defRPr/>
            </a:pPr>
            <a:endParaRPr lang="en-US" sz="2200" dirty="0"/>
          </a:p>
          <a:p>
            <a:pPr>
              <a:defRPr/>
            </a:pPr>
            <a:endParaRPr lang="en-US" sz="2200" dirty="0"/>
          </a:p>
          <a:p>
            <a:pPr>
              <a:defRPr/>
            </a:pPr>
            <a:endParaRPr lang="en-US" sz="2200" dirty="0"/>
          </a:p>
          <a:p>
            <a:pPr>
              <a:defRPr/>
            </a:pPr>
            <a:r>
              <a:rPr lang="en-US" sz="2200" dirty="0"/>
              <a:t>Rationale focuses on identifying importance of: </a:t>
            </a:r>
          </a:p>
          <a:p>
            <a:pPr marL="1109662" lvl="2" indent="-514350">
              <a:buFont typeface="Wingdings" panose="05000000000000000000" pitchFamily="2" charset="2"/>
              <a:buNone/>
              <a:defRPr/>
            </a:pPr>
            <a:r>
              <a:rPr lang="en-US" sz="2000" dirty="0"/>
              <a:t>1) </a:t>
            </a:r>
            <a:r>
              <a:rPr lang="en-US" sz="1800" dirty="0"/>
              <a:t>The pattern of your depression</a:t>
            </a:r>
          </a:p>
          <a:p>
            <a:pPr marL="1109662" lvl="2" indent="-514350">
              <a:buFont typeface="Wingdings" panose="05000000000000000000" pitchFamily="2" charset="2"/>
              <a:buNone/>
              <a:defRPr/>
            </a:pPr>
            <a:r>
              <a:rPr lang="en-US" sz="1800" dirty="0"/>
              <a:t>2) The life areas that are most important to you</a:t>
            </a:r>
          </a:p>
          <a:p>
            <a:pPr marL="1109662" lvl="2" indent="-514350">
              <a:buFont typeface="Wingdings" panose="05000000000000000000" pitchFamily="2" charset="2"/>
              <a:buNone/>
              <a:defRPr/>
            </a:pPr>
            <a:r>
              <a:rPr lang="en-US" sz="1800" dirty="0"/>
              <a:t>3) The values you have in those life areas </a:t>
            </a:r>
          </a:p>
          <a:p>
            <a:pPr marL="1109662" lvl="2" indent="-514350">
              <a:buFont typeface="Wingdings" panose="05000000000000000000" pitchFamily="2" charset="2"/>
              <a:buNone/>
              <a:defRPr/>
            </a:pPr>
            <a:r>
              <a:rPr lang="en-US" sz="1800" dirty="0"/>
              <a:t>4) Valued activities that make your life feel fulfilling</a:t>
            </a:r>
            <a:endParaRPr lang="en-US" sz="2200" dirty="0"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8E545E-FEFE-91B5-F842-2CE67073B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25" y="2052714"/>
            <a:ext cx="6834480" cy="282408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C2EA94CD-2BAA-45B0-88D3-C0DA3F13A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57175"/>
            <a:ext cx="8267700" cy="74295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en-US" b="1" dirty="0"/>
              <a:t>Reinforcement-based Conceptual Model Applied to Depression</a:t>
            </a:r>
          </a:p>
        </p:txBody>
      </p:sp>
      <p:pic>
        <p:nvPicPr>
          <p:cNvPr id="49155" name="Picture 1">
            <a:extLst>
              <a:ext uri="{FF2B5EF4-FFF2-40B4-BE49-F238E27FC236}">
                <a16:creationId xmlns:a16="http://schemas.microsoft.com/office/drawing/2014/main" id="{31FD660E-712E-6877-63A1-82B182DF7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1828800"/>
            <a:ext cx="8412162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22E05-9610-F7E0-E5FD-D3BBE04E3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A35B3FB3-46DC-5954-5C03-7D9AC1020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/>
          <a:lstStyle/>
          <a:p>
            <a:pPr algn="ctr"/>
            <a:r>
              <a:rPr lang="en-US" altLang="en-US" sz="4000" dirty="0"/>
              <a:t>Introduction to Clip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0E04229-5D2B-F6BC-FE0A-E3D41455510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76400"/>
            <a:ext cx="8686800" cy="4267200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The upcoming clip is focused on the treatment rationale</a:t>
            </a:r>
          </a:p>
          <a:p>
            <a:pPr lvl="1">
              <a:defRPr/>
            </a:pPr>
            <a:r>
              <a:rPr lang="en-US" altLang="en-US" sz="1800" dirty="0">
                <a:hlinkClick r:id="rId3"/>
              </a:rPr>
              <a:t>https://www.dropbox.com/scl/fi/1liug636u6c9hly17wcne/SLIDE_48_rationale-1-1.mp4?rlkey=3ae83m9omozbbpmexnqv5muar&amp;st=t30my9bc&amp;dl=0</a:t>
            </a:r>
            <a:r>
              <a:rPr lang="en-US" altLang="en-US" sz="1800" dirty="0"/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en-US" sz="500" dirty="0"/>
          </a:p>
          <a:p>
            <a:pPr>
              <a:defRPr/>
            </a:pPr>
            <a:r>
              <a:rPr lang="en-US" altLang="en-US" sz="2400" dirty="0"/>
              <a:t>After the clip, you will have the chance to answer Poll Question #4 </a:t>
            </a:r>
          </a:p>
          <a:p>
            <a:pPr>
              <a:defRPr/>
            </a:pPr>
            <a:endParaRPr lang="en-US" sz="500" dirty="0"/>
          </a:p>
          <a:p>
            <a:pPr lvl="2"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4727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A4D774B5-B846-D130-A59C-F2178FBD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/>
          <a:lstStyle/>
          <a:p>
            <a:pPr algn="ctr"/>
            <a:r>
              <a:rPr lang="en-US" altLang="en-US" sz="4000" dirty="0"/>
              <a:t>Poll Question #4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37B7D76-7389-4B92-83E6-B87A20DF43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76400"/>
            <a:ext cx="8686800" cy="4267200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What aspect of the Brief BA treatment rationale might be most challenging for your client?</a:t>
            </a:r>
          </a:p>
          <a:p>
            <a:pPr lvl="1">
              <a:defRPr/>
            </a:pPr>
            <a:r>
              <a:rPr lang="en-US" sz="1800" dirty="0"/>
              <a:t>Clients wanting to focus on sharing the details of their depression and/or other psychological symptoms before considering any behavior changes on their part</a:t>
            </a:r>
          </a:p>
          <a:p>
            <a:pPr lvl="1">
              <a:defRPr/>
            </a:pPr>
            <a:r>
              <a:rPr lang="en-US" sz="1800" dirty="0"/>
              <a:t>Clients wanting to change their thoughts and mood before making behavior changes</a:t>
            </a:r>
          </a:p>
          <a:p>
            <a:pPr lvl="1">
              <a:defRPr/>
            </a:pPr>
            <a:r>
              <a:rPr lang="en-US" sz="1800" dirty="0"/>
              <a:t>Clients being skeptical that their thoughts and mood can be positively impacted by their behavior change </a:t>
            </a:r>
          </a:p>
          <a:p>
            <a:pPr lvl="1">
              <a:defRPr/>
            </a:pPr>
            <a:r>
              <a:rPr lang="en-US" sz="1800" dirty="0"/>
              <a:t>Clients being unable to conceptualize/identify valued activities to engage in</a:t>
            </a:r>
          </a:p>
          <a:p>
            <a:pPr lvl="1">
              <a:defRPr/>
            </a:pPr>
            <a:r>
              <a:rPr lang="en-US" sz="1800" dirty="0"/>
              <a:t>Clients confusing any activity with valued activity </a:t>
            </a:r>
          </a:p>
          <a:p>
            <a:pPr lvl="2">
              <a:defRPr/>
            </a:pP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325C4C-E7C0-210E-DC6E-3C8E500BD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8001000" cy="533400"/>
          </a:xfrm>
        </p:spPr>
        <p:txBody>
          <a:bodyPr/>
          <a:lstStyle/>
          <a:p>
            <a:pPr algn="ctr"/>
            <a:r>
              <a:rPr lang="en-US" altLang="en-US" sz="4000"/>
              <a:t>Behavior Monitoring (Form 1)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34852CB-2555-407D-B185-A17CADE6448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52400" y="1828800"/>
            <a:ext cx="8610600" cy="4648200"/>
          </a:xfrm>
        </p:spPr>
        <p:txBody>
          <a:bodyPr/>
          <a:lstStyle/>
          <a:p>
            <a:pPr>
              <a:lnSpc>
                <a:spcPct val="7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600" dirty="0"/>
              <a:t>Behavior monitoring is key to identifying depressed patterns (and healthy patterns!) </a:t>
            </a:r>
            <a:endParaRPr lang="en-US" altLang="en-US" sz="800" dirty="0"/>
          </a:p>
          <a:p>
            <a:pPr>
              <a:lnSpc>
                <a:spcPct val="70000"/>
              </a:lnSpc>
              <a:buFont typeface="Wingdings" panose="05000000000000000000" pitchFamily="2" charset="2"/>
              <a:buChar char="q"/>
              <a:defRPr/>
            </a:pPr>
            <a:endParaRPr lang="en-US" altLang="en-US" sz="2600" dirty="0"/>
          </a:p>
          <a:p>
            <a:pPr>
              <a:lnSpc>
                <a:spcPct val="7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600" dirty="0"/>
              <a:t>Behavior monitoring is done </a:t>
            </a:r>
            <a:r>
              <a:rPr lang="en-US" altLang="en-US" sz="2600" u="sng" dirty="0"/>
              <a:t>every day </a:t>
            </a:r>
            <a:r>
              <a:rPr lang="en-US" altLang="en-US" sz="2600" dirty="0"/>
              <a:t>using Form 1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Char char="q"/>
              <a:defRPr/>
            </a:pPr>
            <a:endParaRPr lang="en-US" altLang="en-US" sz="2600" dirty="0"/>
          </a:p>
          <a:p>
            <a:pPr>
              <a:lnSpc>
                <a:spcPct val="7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600" dirty="0"/>
              <a:t>Activities are recorded on Form 1 throughout the day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Char char="q"/>
              <a:defRPr/>
            </a:pPr>
            <a:endParaRPr lang="en-US" altLang="en-US" sz="2600" dirty="0"/>
          </a:p>
          <a:p>
            <a:pPr>
              <a:lnSpc>
                <a:spcPct val="7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600" dirty="0"/>
              <a:t>For the first week, don</a:t>
            </a:r>
            <a:r>
              <a:rPr lang="ja-JP" altLang="en-US" sz="2600" dirty="0"/>
              <a:t>’</a:t>
            </a:r>
            <a:r>
              <a:rPr lang="en-US" altLang="ja-JP" sz="2600" dirty="0"/>
              <a:t>t make changes, just record activities</a:t>
            </a:r>
          </a:p>
          <a:p>
            <a:pPr marL="0" indent="0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en-US" sz="26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en-US" sz="2600" dirty="0"/>
              <a:t>For every activity, rate importance and enjoyment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en-US" sz="2600" dirty="0"/>
          </a:p>
          <a:p>
            <a:pPr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en-US" sz="2600" dirty="0"/>
              <a:t>For each day, rate your depression/mood</a:t>
            </a:r>
          </a:p>
          <a:p>
            <a:pPr>
              <a:defRPr/>
            </a:pPr>
            <a:endParaRPr lang="en-US" altLang="en-US" sz="2600" dirty="0"/>
          </a:p>
          <a:p>
            <a:pPr lvl="1">
              <a:buFont typeface="Wingdings" panose="05000000000000000000" pitchFamily="2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lnSpc>
                <a:spcPct val="70000"/>
              </a:lnSpc>
              <a:buSzTx/>
              <a:buFont typeface="Wingdings" panose="05000000000000000000" pitchFamily="2" charset="2"/>
              <a:buChar char="§"/>
              <a:defRPr/>
            </a:pPr>
            <a:endParaRPr lang="en-US" altLang="en-US" dirty="0"/>
          </a:p>
          <a:p>
            <a:pPr lvl="1">
              <a:lnSpc>
                <a:spcPct val="70000"/>
              </a:lnSpc>
              <a:buSzTx/>
              <a:buFont typeface="Wingdings" panose="05000000000000000000" pitchFamily="2" charset="2"/>
              <a:buChar char="§"/>
              <a:defRPr/>
            </a:pPr>
            <a:endParaRPr lang="en-US" altLang="en-US" dirty="0"/>
          </a:p>
          <a:p>
            <a:pPr>
              <a:lnSpc>
                <a:spcPct val="70000"/>
              </a:lnSpc>
              <a:buSzPct val="110000"/>
              <a:buFontTx/>
              <a:buChar char="•"/>
              <a:defRPr/>
            </a:pPr>
            <a:endParaRPr lang="en-US" altLang="en-US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B61BE46-D405-349F-D53C-032503F6FF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/>
            <a:r>
              <a:rPr lang="en-US" altLang="en-US" sz="4000"/>
              <a:t>Daily Monitoring (Form 1)</a:t>
            </a:r>
            <a:br>
              <a:rPr lang="en-US" altLang="en-US" sz="1000" b="1"/>
            </a:br>
            <a:br>
              <a:rPr lang="en-US" altLang="en-US" sz="1000" b="1">
                <a:solidFill>
                  <a:schemeClr val="tx1"/>
                </a:solidFill>
              </a:rPr>
            </a:br>
            <a:r>
              <a:rPr lang="en-US" altLang="en-US" sz="1600" b="1">
                <a:solidFill>
                  <a:schemeClr val="tx1"/>
                </a:solidFill>
              </a:rPr>
              <a:t>Date:_______________</a:t>
            </a:r>
          </a:p>
        </p:txBody>
      </p:sp>
      <p:graphicFrame>
        <p:nvGraphicFramePr>
          <p:cNvPr id="1154051" name="Group 3">
            <a:extLst>
              <a:ext uri="{FF2B5EF4-FFF2-40B4-BE49-F238E27FC236}">
                <a16:creationId xmlns:a16="http://schemas.microsoft.com/office/drawing/2014/main" id="{CAC0C490-9383-4DE0-9AC8-26B7B9CCE92F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52400" y="1600200"/>
          <a:ext cx="8839200" cy="4738688"/>
        </p:xfrm>
        <a:graphic>
          <a:graphicData uri="http://schemas.openxmlformats.org/drawingml/2006/table">
            <a:tbl>
              <a:tblPr/>
              <a:tblGrid>
                <a:gridCol w="187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Time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Activities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Importance (1-10)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Enjoyment (1-10)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7:00 – 8:00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8:00 – 9:00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9:00 – 10:00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10:00 – 11:00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11:00 – 12:00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12:00 – 1:00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1:00 – 2:00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2:00 – 3:00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3:00 – 4:00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4572" name="Line 60">
            <a:extLst>
              <a:ext uri="{FF2B5EF4-FFF2-40B4-BE49-F238E27FC236}">
                <a16:creationId xmlns:a16="http://schemas.microsoft.com/office/drawing/2014/main" id="{DB936C66-F797-D817-28DA-AFF746886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295400"/>
            <a:ext cx="8686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CE0418B4-CF61-CC18-80B6-679E70463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8001000" cy="685800"/>
          </a:xfrm>
        </p:spPr>
        <p:txBody>
          <a:bodyPr/>
          <a:lstStyle/>
          <a:p>
            <a:pPr algn="ctr"/>
            <a:r>
              <a:rPr lang="en-US" altLang="en-US" sz="4000" dirty="0"/>
              <a:t>Practice Exercise #2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8FACAE7D-091E-4548-F3DE-6550C6FA50E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10600" cy="4572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800"/>
              <a:t>Complete “Form 1: Daily Monitoring” for one day in the past week in your life</a:t>
            </a:r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4AA7F-6982-C25C-D67F-FF1D8375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6B84D1C5-F360-B608-1D00-662E1252C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/>
          <a:lstStyle/>
          <a:p>
            <a:pPr algn="ctr"/>
            <a:r>
              <a:rPr lang="en-US" altLang="en-US" sz="4000" dirty="0"/>
              <a:t>Introduction to Clip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0873181-B533-872C-ECCD-177244506E4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752600"/>
            <a:ext cx="8686800" cy="4267200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The upcoming clip is focused on preparing a client for daily monitoring</a:t>
            </a:r>
          </a:p>
          <a:p>
            <a:pPr lvl="1">
              <a:defRPr/>
            </a:pPr>
            <a:r>
              <a:rPr lang="en-US" sz="1600" dirty="0">
                <a:hlinkClick r:id="rId3"/>
              </a:rPr>
              <a:t>https://www.dropbox.com/scl/fi/5am2mvjjydoybvm6ypx4m/Slide_52_Baseline-Activity-Monitoring-2-19-122.mp4?rlkey=zj4yivlyur3w5uwtigebcodts&amp;st=tqnfw380&amp;dl=0</a:t>
            </a:r>
            <a:r>
              <a:rPr lang="en-US" sz="1600" dirty="0"/>
              <a:t> </a:t>
            </a:r>
            <a:endParaRPr lang="en-US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216563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E43906B-76A6-8746-89F0-7D4B98DA9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8001000" cy="685800"/>
          </a:xfrm>
        </p:spPr>
        <p:txBody>
          <a:bodyPr/>
          <a:lstStyle/>
          <a:p>
            <a:pPr algn="ctr"/>
            <a:r>
              <a:rPr lang="en-US" altLang="en-US" sz="4000"/>
              <a:t>Session 2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A465488-DC01-A1CE-5A77-0F6D5BABF25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10600" cy="4572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800" dirty="0"/>
              <a:t>Behavior Monitoring: Review Assignment</a:t>
            </a:r>
          </a:p>
          <a:p>
            <a:pPr>
              <a:lnSpc>
                <a:spcPct val="110000"/>
              </a:lnSpc>
            </a:pPr>
            <a:endParaRPr lang="en-US" altLang="en-US" sz="1200" dirty="0"/>
          </a:p>
          <a:p>
            <a:pPr>
              <a:lnSpc>
                <a:spcPct val="110000"/>
              </a:lnSpc>
            </a:pPr>
            <a:r>
              <a:rPr lang="en-US" altLang="en-US" sz="2800" dirty="0"/>
              <a:t>Life Areas</a:t>
            </a:r>
          </a:p>
          <a:p>
            <a:pPr>
              <a:lnSpc>
                <a:spcPct val="110000"/>
              </a:lnSpc>
            </a:pPr>
            <a:endParaRPr lang="en-US" altLang="en-US" sz="1200" dirty="0"/>
          </a:p>
          <a:p>
            <a:pPr>
              <a:lnSpc>
                <a:spcPct val="110000"/>
              </a:lnSpc>
            </a:pPr>
            <a:r>
              <a:rPr lang="en-US" altLang="en-US" sz="2800" dirty="0"/>
              <a:t>Values</a:t>
            </a:r>
          </a:p>
          <a:p>
            <a:pPr>
              <a:lnSpc>
                <a:spcPct val="110000"/>
              </a:lnSpc>
            </a:pPr>
            <a:endParaRPr lang="en-US" altLang="en-US" sz="1200" dirty="0"/>
          </a:p>
          <a:p>
            <a:pPr>
              <a:lnSpc>
                <a:spcPct val="110000"/>
              </a:lnSpc>
            </a:pPr>
            <a:r>
              <a:rPr lang="en-US" altLang="en-US" sz="2800" dirty="0"/>
              <a:t>Activities</a:t>
            </a:r>
          </a:p>
          <a:p>
            <a:pPr>
              <a:lnSpc>
                <a:spcPct val="110000"/>
              </a:lnSpc>
            </a:pPr>
            <a:endParaRPr lang="en-US" altLang="en-US" sz="1200" dirty="0"/>
          </a:p>
          <a:p>
            <a:pPr>
              <a:lnSpc>
                <a:spcPct val="110000"/>
              </a:lnSpc>
            </a:pPr>
            <a:r>
              <a:rPr lang="en-US" altLang="en-US" sz="2800" dirty="0"/>
              <a:t>Life Areas, Values, and Activities Inventory (Form 2)</a:t>
            </a:r>
          </a:p>
          <a:p>
            <a:pPr>
              <a:lnSpc>
                <a:spcPct val="110000"/>
              </a:lnSpc>
            </a:pPr>
            <a:endParaRPr lang="en-US" altLang="en-US" dirty="0"/>
          </a:p>
          <a:p>
            <a:pPr>
              <a:lnSpc>
                <a:spcPct val="110000"/>
              </a:lnSpc>
            </a:pPr>
            <a:endParaRPr lang="en-US" altLang="en-US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EE4FFF35-43CC-11B1-1285-7C061A433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534400" cy="990600"/>
          </a:xfrm>
        </p:spPr>
        <p:txBody>
          <a:bodyPr/>
          <a:lstStyle/>
          <a:p>
            <a:pPr algn="ctr"/>
            <a:r>
              <a:rPr lang="en-US" altLang="en-US" sz="4000"/>
              <a:t>Behavior Monitoring Review (Form 1)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D884CB2-7D2C-7014-6010-8E6AFBF210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1828800"/>
            <a:ext cx="8382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600"/>
              <a:t>At the beginning of the session, review all 7 behavior monitoring forms from the previous week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60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600"/>
              <a:t>Decide what to do if all forms aren’</a:t>
            </a:r>
            <a:r>
              <a:rPr lang="en-US" altLang="ja-JP" sz="2600"/>
              <a:t>t complete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ja-JP" sz="2600"/>
          </a:p>
          <a:p>
            <a:r>
              <a:rPr lang="en-US" altLang="en-US" sz="2800"/>
              <a:t>Identify depressed patterns</a:t>
            </a:r>
          </a:p>
          <a:p>
            <a:pPr lvl="1"/>
            <a:endParaRPr lang="en-US" altLang="en-US"/>
          </a:p>
          <a:p>
            <a:r>
              <a:rPr lang="en-US" altLang="en-US" sz="2800"/>
              <a:t>Identify where in their day/week they might begin to make some changes (adding more important and/or enjoyable activities)</a:t>
            </a:r>
            <a:endParaRPr lang="en-US" altLang="ja-JP" sz="2600"/>
          </a:p>
          <a:p>
            <a:pPr>
              <a:buFont typeface="Wingdings" panose="05000000000000000000" pitchFamily="2" charset="2"/>
              <a:buChar char="q"/>
            </a:pPr>
            <a:endParaRPr lang="en-US" altLang="ja-JP" sz="2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7F12C15-EE22-9F36-9A10-C119B93C127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/>
            <a:r>
              <a:rPr lang="en-US" altLang="en-US" sz="4000"/>
              <a:t>Daily Monitoring (Form 1)</a:t>
            </a:r>
            <a:br>
              <a:rPr lang="en-US" altLang="en-US" sz="1000" b="1"/>
            </a:br>
            <a:br>
              <a:rPr lang="en-US" altLang="en-US" sz="1000" b="1">
                <a:solidFill>
                  <a:schemeClr val="tx1"/>
                </a:solidFill>
              </a:rPr>
            </a:br>
            <a:r>
              <a:rPr lang="en-US" altLang="en-US" sz="1600" b="1">
                <a:solidFill>
                  <a:schemeClr val="tx1"/>
                </a:solidFill>
              </a:rPr>
              <a:t>Date:_______________</a:t>
            </a:r>
          </a:p>
        </p:txBody>
      </p:sp>
      <p:graphicFrame>
        <p:nvGraphicFramePr>
          <p:cNvPr id="1058819" name="Group 3">
            <a:extLst>
              <a:ext uri="{FF2B5EF4-FFF2-40B4-BE49-F238E27FC236}">
                <a16:creationId xmlns:a16="http://schemas.microsoft.com/office/drawing/2014/main" id="{7D80C98E-37A8-45BB-9E8A-249775A14FA5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228600" y="1600200"/>
          <a:ext cx="8610599" cy="4738688"/>
        </p:xfrm>
        <a:graphic>
          <a:graphicData uri="http://schemas.openxmlformats.org/drawingml/2006/table">
            <a:tbl>
              <a:tblPr/>
              <a:tblGrid>
                <a:gridCol w="1827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4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5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Time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Activities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Importance (1-10)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Enjoyment (1-10)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7:00 – 8:00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Sleep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8:00 – 9:00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Sleep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9:00 – 10:00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Sleep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10:00 – 11:00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Awake in bed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11:00 – 12:00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Awake in bed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12:00 – 1:00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TV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1:00 – 2:00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TV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2:00 – 3:00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TV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3:00 – 4:00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Laundry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2764" name="Line 60">
            <a:extLst>
              <a:ext uri="{FF2B5EF4-FFF2-40B4-BE49-F238E27FC236}">
                <a16:creationId xmlns:a16="http://schemas.microsoft.com/office/drawing/2014/main" id="{B46D70B8-85C6-0C6C-71DD-85AC152AF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295400"/>
            <a:ext cx="8686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A1C2-85E1-180D-206B-010284E5A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480CE27A-9E2C-4249-67AD-C7F1CFF0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/>
          <a:lstStyle/>
          <a:p>
            <a:pPr algn="ctr"/>
            <a:r>
              <a:rPr lang="en-US" altLang="en-US" sz="4000" dirty="0"/>
              <a:t>Introduction to Clip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9A291C9-4559-B2DE-6DBC-4C92EE85BDD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752600"/>
            <a:ext cx="8686800" cy="4267200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The upcoming clip is focused on review of monitoring</a:t>
            </a:r>
          </a:p>
          <a:p>
            <a:pPr lvl="1">
              <a:defRPr/>
            </a:pPr>
            <a:r>
              <a:rPr lang="en-US" sz="1600" u="sng" dirty="0">
                <a:hlinkClick r:id="rId3"/>
              </a:rPr>
              <a:t>https://www.dropbox.com/scl/fi/5lttpt380dlgcumtp20bo/Slide_58_Reviewing-Baseline-Monitoring-with-Patient.mp4?rlkey=ipecgi31qqmsk3f6tmatb962c&amp;st=54ur7h05&amp;dl=0</a:t>
            </a:r>
            <a:r>
              <a:rPr lang="en-US" sz="1600" u="sng" dirty="0"/>
              <a:t> </a:t>
            </a:r>
          </a:p>
          <a:p>
            <a:pPr lvl="1">
              <a:defRPr/>
            </a:pPr>
            <a:endParaRPr lang="en-US" altLang="en-US" sz="1000" dirty="0"/>
          </a:p>
          <a:p>
            <a:pPr>
              <a:defRPr/>
            </a:pPr>
            <a:r>
              <a:rPr lang="en-US" altLang="en-US" sz="2400" dirty="0"/>
              <a:t>After the clips, you will have the chance to answer Poll Question #5 </a:t>
            </a:r>
          </a:p>
          <a:p>
            <a:pPr>
              <a:defRPr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15613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4DCBA93D-C5E7-B941-74E5-006333A9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/>
          <a:lstStyle/>
          <a:p>
            <a:pPr algn="ctr"/>
            <a:r>
              <a:rPr lang="en-US" altLang="en-US" sz="4000" dirty="0"/>
              <a:t>Poll Question #5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37B7D76-7389-4B92-83E6-B87A20DF43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752600"/>
            <a:ext cx="8686800" cy="4267200"/>
          </a:xfrm>
        </p:spPr>
        <p:txBody>
          <a:bodyPr/>
          <a:lstStyle/>
          <a:p>
            <a:pPr>
              <a:defRPr/>
            </a:pPr>
            <a:endParaRPr lang="en-US" sz="1000" dirty="0"/>
          </a:p>
          <a:p>
            <a:pPr>
              <a:defRPr/>
            </a:pPr>
            <a:r>
              <a:rPr lang="en-US" sz="2400" dirty="0"/>
              <a:t>What is one challenge of monitoring as illustrated in the two clips?</a:t>
            </a:r>
          </a:p>
          <a:p>
            <a:pPr lvl="1">
              <a:defRPr/>
            </a:pPr>
            <a:r>
              <a:rPr lang="en-US" sz="1800" dirty="0"/>
              <a:t>Clients might have little insight into their daily activities</a:t>
            </a:r>
          </a:p>
          <a:p>
            <a:pPr lvl="1">
              <a:defRPr/>
            </a:pPr>
            <a:r>
              <a:rPr lang="en-US" sz="1800" dirty="0"/>
              <a:t>Clients may have trouble grasping the connection between activities and mood</a:t>
            </a:r>
          </a:p>
          <a:p>
            <a:pPr lvl="1">
              <a:defRPr/>
            </a:pPr>
            <a:r>
              <a:rPr lang="en-US" sz="1800" dirty="0"/>
              <a:t>Monitoring can be a lot of work</a:t>
            </a:r>
          </a:p>
          <a:p>
            <a:pPr lvl="1">
              <a:defRPr/>
            </a:pPr>
            <a:r>
              <a:rPr lang="en-US" sz="1800" dirty="0"/>
              <a:t>Monitoring can feel complex and overwhelming 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27846B1-1DD0-5A73-3D45-71D5F77A4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8001000" cy="396875"/>
          </a:xfrm>
        </p:spPr>
        <p:txBody>
          <a:bodyPr/>
          <a:lstStyle/>
          <a:p>
            <a:pPr algn="ctr"/>
            <a:r>
              <a:rPr lang="en-US" altLang="en-US" sz="4000"/>
              <a:t>5 Life Areas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A41BCC92-C701-7B08-BBF5-E488C916AD1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828800"/>
            <a:ext cx="7848600" cy="4191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/>
              <a:t>Relationships </a:t>
            </a:r>
          </a:p>
          <a:p>
            <a:pPr>
              <a:lnSpc>
                <a:spcPct val="80000"/>
              </a:lnSpc>
            </a:pPr>
            <a:endParaRPr lang="en-US" altLang="en-US" sz="2800"/>
          </a:p>
          <a:p>
            <a:pPr>
              <a:lnSpc>
                <a:spcPct val="80000"/>
              </a:lnSpc>
            </a:pPr>
            <a:r>
              <a:rPr lang="en-US" altLang="en-US" sz="2800"/>
              <a:t>School / Career </a:t>
            </a:r>
          </a:p>
          <a:p>
            <a:pPr>
              <a:lnSpc>
                <a:spcPct val="80000"/>
              </a:lnSpc>
            </a:pPr>
            <a:endParaRPr lang="en-US" altLang="en-US" sz="2800"/>
          </a:p>
          <a:p>
            <a:pPr>
              <a:lnSpc>
                <a:spcPct val="80000"/>
              </a:lnSpc>
            </a:pPr>
            <a:r>
              <a:rPr lang="en-US" altLang="en-US" sz="2800"/>
              <a:t>Hobbies/ Recreation/ Helping Others</a:t>
            </a:r>
          </a:p>
          <a:p>
            <a:pPr>
              <a:lnSpc>
                <a:spcPct val="80000"/>
              </a:lnSpc>
            </a:pPr>
            <a:endParaRPr lang="en-US" altLang="en-US" sz="2800"/>
          </a:p>
          <a:p>
            <a:pPr>
              <a:lnSpc>
                <a:spcPct val="80000"/>
              </a:lnSpc>
            </a:pPr>
            <a:r>
              <a:rPr lang="en-US" altLang="en-US" sz="2800"/>
              <a:t>Mind, Body, &amp; Spirituality</a:t>
            </a:r>
          </a:p>
          <a:p>
            <a:pPr>
              <a:lnSpc>
                <a:spcPct val="80000"/>
              </a:lnSpc>
            </a:pPr>
            <a:endParaRPr lang="en-US" altLang="en-US" sz="2800"/>
          </a:p>
          <a:p>
            <a:pPr>
              <a:lnSpc>
                <a:spcPct val="80000"/>
              </a:lnSpc>
            </a:pPr>
            <a:r>
              <a:rPr lang="en-US" altLang="en-US" sz="2800"/>
              <a:t>Daily Responsibilities</a:t>
            </a:r>
          </a:p>
          <a:p>
            <a:pPr>
              <a:lnSpc>
                <a:spcPct val="80000"/>
              </a:lnSpc>
            </a:pPr>
            <a:endParaRPr lang="en-US" altLang="en-US" sz="1800"/>
          </a:p>
          <a:p>
            <a:pPr>
              <a:lnSpc>
                <a:spcPct val="80000"/>
              </a:lnSpc>
            </a:pPr>
            <a:endParaRPr lang="en-US" altLang="en-US" sz="1800" b="1"/>
          </a:p>
          <a:p>
            <a:pPr>
              <a:lnSpc>
                <a:spcPct val="80000"/>
              </a:lnSpc>
            </a:pPr>
            <a:endParaRPr lang="en-US" altLang="en-US" sz="1800" b="1"/>
          </a:p>
          <a:p>
            <a:pPr>
              <a:lnSpc>
                <a:spcPct val="80000"/>
              </a:lnSpc>
            </a:pPr>
            <a:endParaRPr lang="en-US" altLang="en-US" sz="900"/>
          </a:p>
          <a:p>
            <a:pPr>
              <a:lnSpc>
                <a:spcPct val="80000"/>
              </a:lnSpc>
            </a:pPr>
            <a:endParaRPr lang="en-US" altLang="en-US" sz="1800"/>
          </a:p>
          <a:p>
            <a:pPr>
              <a:lnSpc>
                <a:spcPct val="8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3C9E1233-0DE8-A635-8A9C-D3DB78CB3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001000" cy="1066800"/>
          </a:xfrm>
        </p:spPr>
        <p:txBody>
          <a:bodyPr/>
          <a:lstStyle/>
          <a:p>
            <a:pPr algn="ctr"/>
            <a:r>
              <a:rPr lang="en-US" altLang="en-US" sz="4000"/>
              <a:t>Identify Values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75D660C3-0528-40F4-B51C-EB14BD9B70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534400" cy="50292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Identify Values for each Life Area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0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A value is an ideal, quality, or strong belief in certain way of living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0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To think about values, ask patient what is important to you and how do you want to live your life in that area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0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Examples of values are: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/>
              <a:t>Be a good parent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/>
              <a:t>Get more formal education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/>
              <a:t>Live a spiritual life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altLang="en-US"/>
          </a:p>
          <a:p>
            <a:pPr>
              <a:buFont typeface="Wingdings" panose="05000000000000000000" pitchFamily="2" charset="2"/>
              <a:buChar char="q"/>
            </a:pPr>
            <a:endParaRPr lang="en-US" altLang="en-US"/>
          </a:p>
          <a:p>
            <a:pPr>
              <a:buSzPct val="120000"/>
              <a:buFontTx/>
              <a:buChar char="•"/>
            </a:pPr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B09F957-CF0C-48DD-32F2-107F0CA38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001000" cy="914400"/>
          </a:xfrm>
        </p:spPr>
        <p:txBody>
          <a:bodyPr/>
          <a:lstStyle/>
          <a:p>
            <a:pPr algn="ctr"/>
            <a:r>
              <a:rPr lang="en-US" altLang="en-US" sz="4000"/>
              <a:t>Identify Activities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8872C04-2435-A2DB-6AF3-9CFB184B40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534400" cy="5181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Select Activities for each Value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30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Break down values into specific activities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30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An activity is something you do that can be observed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altLang="en-US" sz="2400"/>
              <a:t>Go for a walk (activity)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altLang="en-US" sz="2400"/>
              <a:t>Think happier thoughts (not an activity)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30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Select easy and difficult activities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altLang="en-US" sz="2400"/>
              <a:t>Including those already being done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30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Once activities are selected they become the focus as opposed to the value</a:t>
            </a:r>
            <a:r>
              <a:rPr lang="en-US" altLang="en-US" sz="2800">
                <a:sym typeface="Wingdings" panose="05000000000000000000" pitchFamily="2" charset="2"/>
              </a:rPr>
              <a:t> that comes later</a:t>
            </a:r>
          </a:p>
          <a:p>
            <a:pPr lvl="1">
              <a:buSzPct val="60000"/>
              <a:buFont typeface="Wingdings" panose="05000000000000000000" pitchFamily="2" charset="2"/>
              <a:buChar char="q"/>
            </a:pPr>
            <a:r>
              <a:rPr lang="en-US" altLang="en-US" sz="2400">
                <a:sym typeface="Wingdings" panose="05000000000000000000" pitchFamily="2" charset="2"/>
              </a:rPr>
              <a:t>Activities should be enjoyable or important or both</a:t>
            </a:r>
            <a:endParaRPr lang="en-US" altLang="en-US"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6B2C8F61-7A8C-EF08-633C-3FF170813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81000"/>
            <a:ext cx="8001000" cy="457200"/>
          </a:xfrm>
        </p:spPr>
        <p:txBody>
          <a:bodyPr/>
          <a:lstStyle/>
          <a:p>
            <a:pPr algn="ctr" eaLnBrk="1" hangingPunct="1"/>
            <a:r>
              <a:rPr lang="en-US" altLang="en-US" sz="4000"/>
              <a:t>LAVA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2959649-D8FF-4BB5-9186-C78646C02583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300" b="1" dirty="0"/>
              <a:t>Life Area:</a:t>
            </a:r>
            <a:r>
              <a:rPr lang="en-US" altLang="en-US" sz="2300" dirty="0"/>
              <a:t> </a:t>
            </a:r>
            <a:r>
              <a:rPr lang="en-US" altLang="en-US" sz="2300" u="sng" dirty="0"/>
              <a:t>Relationships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300" b="1" dirty="0"/>
              <a:t>Value:</a:t>
            </a:r>
            <a:r>
              <a:rPr lang="en-US" altLang="en-US" sz="2300" dirty="0"/>
              <a:t> </a:t>
            </a:r>
            <a:r>
              <a:rPr lang="en-US" altLang="en-US" sz="2300" u="sng" dirty="0"/>
              <a:t>Being a loving parent</a:t>
            </a:r>
            <a:endParaRPr lang="en-US" altLang="en-US" sz="2300" dirty="0"/>
          </a:p>
          <a:p>
            <a:pPr marL="640080" lvl="1" indent="-274320" eaLnBrk="1" fontAlgn="auto" hangingPunct="1">
              <a:lnSpc>
                <a:spcPts val="2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altLang="en-US" sz="1900" dirty="0"/>
              <a:t>Activity: Telling my child I love them every day</a:t>
            </a:r>
          </a:p>
          <a:p>
            <a:pPr marL="640080" lvl="1" indent="-274320" eaLnBrk="1" fontAlgn="auto" hangingPunct="1">
              <a:lnSpc>
                <a:spcPts val="2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altLang="en-US" sz="1900" dirty="0"/>
              <a:t>Activity: Make a special breakfast for my child on Saturday</a:t>
            </a:r>
          </a:p>
          <a:p>
            <a:pPr marL="640080" lvl="1" indent="-274320" eaLnBrk="1" fontAlgn="auto" hangingPunct="1">
              <a:lnSpc>
                <a:spcPts val="2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altLang="en-US" sz="1900" dirty="0"/>
              <a:t>Activity: Picking up my child from school promptly each day</a:t>
            </a:r>
            <a:endParaRPr lang="en-US" sz="1900" dirty="0"/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endParaRPr lang="en-US" altLang="en-US" sz="2300" b="1" dirty="0"/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300" b="1" dirty="0"/>
              <a:t>Life Area:</a:t>
            </a:r>
            <a:r>
              <a:rPr lang="en-US" altLang="en-US" sz="2300" dirty="0"/>
              <a:t> </a:t>
            </a:r>
            <a:r>
              <a:rPr lang="en-US" altLang="en-US" sz="2300" u="sng" dirty="0"/>
              <a:t>Mind, Body, Spirituality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300" b="1" dirty="0"/>
              <a:t>Value:</a:t>
            </a:r>
            <a:r>
              <a:rPr lang="en-US" altLang="en-US" sz="2300" dirty="0"/>
              <a:t> </a:t>
            </a:r>
            <a:r>
              <a:rPr lang="en-US" altLang="en-US" sz="2300" u="sng" dirty="0"/>
              <a:t>Caring for my physical health</a:t>
            </a:r>
            <a:endParaRPr lang="en-US" altLang="en-US" sz="2300" dirty="0"/>
          </a:p>
          <a:p>
            <a:pPr marL="640080" lvl="1" indent="-274320" eaLnBrk="1" fontAlgn="auto" hangingPunct="1">
              <a:lnSpc>
                <a:spcPts val="2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altLang="en-US" sz="1900" dirty="0"/>
              <a:t>Activity: Cook healthier Meals</a:t>
            </a:r>
          </a:p>
          <a:p>
            <a:pPr marL="640080" lvl="1" indent="-274320" eaLnBrk="1" fontAlgn="auto" hangingPunct="1">
              <a:lnSpc>
                <a:spcPts val="2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altLang="en-US" sz="1900" dirty="0"/>
              <a:t>Activity: Take the stairs once per day at work</a:t>
            </a:r>
          </a:p>
          <a:p>
            <a:pPr marL="320040" indent="-320040" eaLnBrk="1" fontAlgn="auto" hangingPunct="1">
              <a:lnSpc>
                <a:spcPts val="2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en-US" sz="2300" b="1" dirty="0"/>
          </a:p>
          <a:p>
            <a:pPr marL="320040" indent="-320040" eaLnBrk="1" fontAlgn="auto" hangingPunct="1">
              <a:lnSpc>
                <a:spcPts val="2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300" b="1" dirty="0"/>
              <a:t>Life Area:</a:t>
            </a:r>
            <a:r>
              <a:rPr lang="en-US" altLang="en-US" sz="2300" dirty="0"/>
              <a:t> </a:t>
            </a:r>
            <a:r>
              <a:rPr lang="en-US" altLang="en-US" sz="2300" u="sng" dirty="0"/>
              <a:t>Responsibilities</a:t>
            </a:r>
            <a:r>
              <a:rPr lang="en-US" altLang="en-US" sz="2300" dirty="0"/>
              <a:t> </a:t>
            </a:r>
          </a:p>
          <a:p>
            <a:pPr marL="320040" indent="-320040" eaLnBrk="1" fontAlgn="auto" hangingPunct="1">
              <a:lnSpc>
                <a:spcPts val="2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300" b="1" dirty="0"/>
              <a:t>Value:</a:t>
            </a:r>
            <a:r>
              <a:rPr lang="en-US" altLang="en-US" sz="2300" dirty="0"/>
              <a:t> </a:t>
            </a:r>
            <a:r>
              <a:rPr lang="en-US" sz="2300" u="sng" dirty="0"/>
              <a:t>Be someone others can depend upon</a:t>
            </a:r>
            <a:endParaRPr lang="en-US" sz="2300" dirty="0"/>
          </a:p>
          <a:p>
            <a:pPr marL="640080" lvl="1" indent="-274320" eaLnBrk="1" fontAlgn="auto" hangingPunct="1">
              <a:lnSpc>
                <a:spcPts val="2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1900" dirty="0"/>
              <a:t>Activity: Arrive at work on time </a:t>
            </a:r>
          </a:p>
          <a:p>
            <a:pPr marL="640080" lvl="1" indent="-274320" eaLnBrk="1" fontAlgn="auto" hangingPunct="1">
              <a:lnSpc>
                <a:spcPts val="2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1900" dirty="0"/>
              <a:t>Activity: Pay my bills on time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45922F4-174F-7513-5D56-6F8C19960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8001000" cy="685800"/>
          </a:xfrm>
        </p:spPr>
        <p:txBody>
          <a:bodyPr/>
          <a:lstStyle/>
          <a:p>
            <a:pPr algn="ctr"/>
            <a:r>
              <a:rPr lang="en-US" altLang="en-US" sz="4000"/>
              <a:t>Activities as “Angles” and/or “Steps” 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CF2BD97B-3594-4B62-B9A4-8DE46AA187D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752600"/>
            <a:ext cx="8686800" cy="457200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altLang="en-US" sz="2500" dirty="0"/>
              <a:t>For most Life Area/Value sets, multiple activities will be chosen</a:t>
            </a:r>
          </a:p>
          <a:p>
            <a:pPr>
              <a:lnSpc>
                <a:spcPct val="110000"/>
              </a:lnSpc>
              <a:defRPr/>
            </a:pPr>
            <a:endParaRPr lang="en-US" altLang="en-US" sz="500" dirty="0"/>
          </a:p>
          <a:p>
            <a:pPr>
              <a:lnSpc>
                <a:spcPct val="110000"/>
              </a:lnSpc>
              <a:defRPr/>
            </a:pPr>
            <a:r>
              <a:rPr lang="en-US" altLang="en-US" sz="2500" dirty="0"/>
              <a:t>It is useful to distinguish these activities as: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en-US" sz="2000" u="sng" dirty="0"/>
              <a:t>distinct angles</a:t>
            </a:r>
            <a:r>
              <a:rPr lang="en-US" altLang="en-US" sz="2000" dirty="0"/>
              <a:t> towards value achievement OR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en-US" sz="2000" u="sng" dirty="0"/>
              <a:t>nested steps</a:t>
            </a:r>
            <a:r>
              <a:rPr lang="en-US" altLang="en-US" sz="2000" dirty="0"/>
              <a:t> all part of a sequence towards value achievement 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en-US" sz="500" dirty="0"/>
          </a:p>
          <a:p>
            <a:pPr>
              <a:lnSpc>
                <a:spcPct val="110000"/>
              </a:lnSpc>
              <a:defRPr/>
            </a:pPr>
            <a:r>
              <a:rPr lang="en-US" altLang="en-US" sz="2500" dirty="0"/>
              <a:t>The existing BA materials do not differentiate angles and steps (though probably should and likely will in new updates) but its important for you to be aware of the difference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en-US" sz="2000" dirty="0"/>
              <a:t>More angles provide more unique ways to value achievement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en-US" sz="2000" dirty="0"/>
              <a:t>Steps are a great example of shaping and may be necessary to build momentum if the activity itself may be too hard at first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841D98E4-EFD2-1A8B-1D07-6FE2884D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8001000" cy="685800"/>
          </a:xfrm>
        </p:spPr>
        <p:txBody>
          <a:bodyPr/>
          <a:lstStyle/>
          <a:p>
            <a:pPr algn="ctr"/>
            <a:r>
              <a:rPr lang="en-US" altLang="en-US" sz="4000" dirty="0"/>
              <a:t>Practice Exercise #3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CF2BD97B-3594-4B62-B9A4-8DE46AA187D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10600" cy="457200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altLang="en-US" sz="2800" dirty="0"/>
              <a:t>For 2 different life areas, identify a value and at least 2 activities in each for “Form 2: LAVA Inventory” using only activities that are different “angles”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C791A101-BDAC-4149-0DD8-262817199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ctr"/>
            <a:r>
              <a:rPr lang="en-US" altLang="en-US" sz="4000"/>
              <a:t>Session 3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99EB2C93-EFA1-29A6-2496-99C2FC41D0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828800"/>
            <a:ext cx="8610600" cy="4343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800" dirty="0"/>
              <a:t>Behavior Monitoring Form 1: Review Assignment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>
              <a:lnSpc>
                <a:spcPct val="110000"/>
              </a:lnSpc>
            </a:pPr>
            <a:r>
              <a:rPr lang="en-US" altLang="en-US" sz="2800" dirty="0"/>
              <a:t>Life Areas, Values, and Activities Inventory (Form 2): Review Assignment</a:t>
            </a:r>
          </a:p>
          <a:p>
            <a:pPr>
              <a:lnSpc>
                <a:spcPct val="110000"/>
              </a:lnSpc>
            </a:pPr>
            <a:endParaRPr lang="en-US" altLang="en-US" sz="2800" dirty="0"/>
          </a:p>
          <a:p>
            <a:pPr>
              <a:lnSpc>
                <a:spcPct val="110000"/>
              </a:lnSpc>
            </a:pPr>
            <a:r>
              <a:rPr lang="en-US" altLang="en-US" sz="2800" dirty="0"/>
              <a:t>Activity Selection and Ranking (Form 3)</a:t>
            </a:r>
          </a:p>
          <a:p>
            <a:pPr>
              <a:lnSpc>
                <a:spcPct val="110000"/>
              </a:lnSpc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399C2311-70E1-549E-7F6B-4502BFCB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8458200" cy="914400"/>
          </a:xfrm>
        </p:spPr>
        <p:txBody>
          <a:bodyPr/>
          <a:lstStyle/>
          <a:p>
            <a:pPr algn="ctr"/>
            <a:r>
              <a:rPr lang="en-US" altLang="en-US" sz="4000"/>
              <a:t>Activity Selection &amp; Ranking (Form 3)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709D8C4D-9A6F-9E75-DB1A-1CBC61A4B7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4800" y="2133600"/>
            <a:ext cx="8534400" cy="4038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Select 15 activities from the Life Areas, Values, and Activities Inventory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Activities rank-ordered from 1 (easiest) to 15 (most difficult)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800"/>
              <a:t>These are a starting point and activities can be reordered, added, and removed anytime</a:t>
            </a:r>
          </a:p>
          <a:p>
            <a:pPr>
              <a:buSzPct val="90000"/>
              <a:buFontTx/>
              <a:buChar char="•"/>
            </a:pPr>
            <a:endParaRPr lang="en-US" altLang="en-US"/>
          </a:p>
          <a:p>
            <a:pPr>
              <a:buSzPct val="90000"/>
              <a:buFontTx/>
              <a:buChar char="•"/>
            </a:pPr>
            <a:endParaRPr lang="en-US" altLang="en-US" sz="800"/>
          </a:p>
          <a:p>
            <a:pPr>
              <a:buSzPct val="90000"/>
              <a:buFontTx/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4">
            <a:extLst>
              <a:ext uri="{FF2B5EF4-FFF2-40B4-BE49-F238E27FC236}">
                <a16:creationId xmlns:a16="http://schemas.microsoft.com/office/drawing/2014/main" id="{D8D2C745-B4B7-4325-8626-50462C49C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"/>
            <a:ext cx="8077200" cy="20621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39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39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39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39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39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>
              <a:defRPr/>
            </a:pPr>
            <a:r>
              <a:rPr lang="en-US" sz="4000" dirty="0">
                <a:solidFill>
                  <a:schemeClr val="tx2"/>
                </a:solidFill>
                <a:latin typeface="+mn-lt"/>
              </a:rPr>
              <a:t>Activity Ranking Form</a:t>
            </a:r>
          </a:p>
          <a:p>
            <a:pPr>
              <a:defRPr/>
            </a:pPr>
            <a:endParaRPr lang="en-US" sz="1200" b="1" dirty="0">
              <a:latin typeface="+mn-lt"/>
            </a:endParaRPr>
          </a:p>
          <a:p>
            <a:pPr>
              <a:defRPr/>
            </a:pPr>
            <a:endParaRPr lang="en-US" sz="1200" b="1" dirty="0">
              <a:latin typeface="+mn-lt"/>
            </a:endParaRPr>
          </a:p>
          <a:p>
            <a:pPr>
              <a:defRPr/>
            </a:pPr>
            <a:endParaRPr lang="en-US" sz="1200" b="1" dirty="0">
              <a:latin typeface="+mn-lt"/>
            </a:endParaRPr>
          </a:p>
          <a:p>
            <a:pPr>
              <a:defRPr/>
            </a:pPr>
            <a:endParaRPr lang="en-US" sz="1200" b="1" dirty="0">
              <a:latin typeface="+mn-lt"/>
            </a:endParaRPr>
          </a:p>
          <a:p>
            <a:pPr>
              <a:defRPr/>
            </a:pPr>
            <a:r>
              <a:rPr lang="en-US" sz="2000" dirty="0">
                <a:latin typeface="+mn-lt"/>
              </a:rPr>
              <a:t>Instructions: List your desired activities and rate the difficulty of each from 1 = least difficult to 15 = most difficult</a:t>
            </a:r>
            <a:endParaRPr lang="en-US" sz="2000" b="1" dirty="0">
              <a:latin typeface="+mn-lt"/>
            </a:endParaRPr>
          </a:p>
        </p:txBody>
      </p:sp>
      <p:graphicFrame>
        <p:nvGraphicFramePr>
          <p:cNvPr id="699603" name="Group 211">
            <a:extLst>
              <a:ext uri="{FF2B5EF4-FFF2-40B4-BE49-F238E27FC236}">
                <a16:creationId xmlns:a16="http://schemas.microsoft.com/office/drawing/2014/main" id="{EF870DC2-5C64-410B-9880-339CCAFD9D80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33400" y="2362200"/>
          <a:ext cx="8001000" cy="4343403"/>
        </p:xfrm>
        <a:graphic>
          <a:graphicData uri="http://schemas.openxmlformats.org/drawingml/2006/table">
            <a:tbl>
              <a:tblPr/>
              <a:tblGrid>
                <a:gridCol w="553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2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9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-106" charset="0"/>
                        </a:rPr>
                        <a:t>ACTIVITY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-106" charset="-128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-106" charset="0"/>
                        </a:rPr>
                        <a:t>Rank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-106" charset="-128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Go to work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47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Wake up before 1 P.M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Play with daughter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8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Make dinner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Call friend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Clean bedroom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Go for a walk outside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Meditate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-106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8763612B-D037-5355-592D-ED528BAE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8001000" cy="685800"/>
          </a:xfrm>
        </p:spPr>
        <p:txBody>
          <a:bodyPr/>
          <a:lstStyle/>
          <a:p>
            <a:pPr algn="ctr"/>
            <a:r>
              <a:rPr lang="en-US" altLang="en-US" sz="4000"/>
              <a:t>Session 4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89AC4C9-B63A-8B2A-3C91-BDD51ABEC0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828800"/>
            <a:ext cx="8610600" cy="4343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800" dirty="0"/>
              <a:t>Behavior Monitoring Form 1: Review Assignment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>
              <a:lnSpc>
                <a:spcPct val="110000"/>
              </a:lnSpc>
            </a:pPr>
            <a:r>
              <a:rPr lang="en-US" altLang="en-US" sz="2800" dirty="0"/>
              <a:t>Activity Selection and Ranking (Form 3): Review Assignment</a:t>
            </a:r>
          </a:p>
          <a:p>
            <a:pPr>
              <a:lnSpc>
                <a:spcPct val="110000"/>
              </a:lnSpc>
            </a:pPr>
            <a:endParaRPr lang="en-US" altLang="en-US" sz="2800" dirty="0"/>
          </a:p>
          <a:p>
            <a:pPr>
              <a:lnSpc>
                <a:spcPct val="110000"/>
              </a:lnSpc>
            </a:pPr>
            <a:r>
              <a:rPr lang="en-US" altLang="en-US" sz="2800" dirty="0"/>
              <a:t>Activity Planning (with Daily Monitoring Form 1)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>
            <a:extLst>
              <a:ext uri="{FF2B5EF4-FFF2-40B4-BE49-F238E27FC236}">
                <a16:creationId xmlns:a16="http://schemas.microsoft.com/office/drawing/2014/main" id="{E1547C0A-34B5-43A5-2081-BEA14266F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914400"/>
          </a:xfrm>
        </p:spPr>
        <p:txBody>
          <a:bodyPr/>
          <a:lstStyle/>
          <a:p>
            <a:pPr algn="ctr"/>
            <a:r>
              <a:rPr lang="en-US" altLang="en-US" sz="4000"/>
              <a:t>In-Session Planning </a:t>
            </a:r>
          </a:p>
        </p:txBody>
      </p:sp>
      <p:sp>
        <p:nvSpPr>
          <p:cNvPr id="101379" name="Content Placeholder 2">
            <a:extLst>
              <a:ext uri="{FF2B5EF4-FFF2-40B4-BE49-F238E27FC236}">
                <a16:creationId xmlns:a16="http://schemas.microsoft.com/office/drawing/2014/main" id="{37A83072-1212-CCF8-475B-36560525A4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905000"/>
            <a:ext cx="8610600" cy="4267200"/>
          </a:xfrm>
        </p:spPr>
        <p:txBody>
          <a:bodyPr/>
          <a:lstStyle/>
          <a:p>
            <a:r>
              <a:rPr lang="en-US" altLang="en-US" sz="2800"/>
              <a:t>Behavior Monitoring with Activity Planning (Form 1)</a:t>
            </a:r>
          </a:p>
          <a:p>
            <a:endParaRPr lang="en-US" altLang="en-US" sz="1500"/>
          </a:p>
          <a:p>
            <a:r>
              <a:rPr lang="en-US" altLang="en-US" sz="2800"/>
              <a:t>Monitoring transitions to planning and monitoring</a:t>
            </a:r>
          </a:p>
          <a:p>
            <a:endParaRPr lang="en-US" altLang="en-US" sz="1500"/>
          </a:p>
          <a:p>
            <a:r>
              <a:rPr lang="en-US" altLang="en-US" sz="2800"/>
              <a:t>Activities planned can range from only 1 very easy activity for the whole week or several challenging activities each day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500"/>
          </a:p>
          <a:p>
            <a:r>
              <a:rPr lang="en-US" altLang="en-US" sz="2800"/>
              <a:t>Planning is done in the session for the whole week but changes can be made at any time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7E4ED207-63B0-0896-C795-584F74A9868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/>
            <a:r>
              <a:rPr lang="en-US" altLang="en-US" sz="4000"/>
              <a:t>Daily Monitoring (Form 1)</a:t>
            </a:r>
            <a:br>
              <a:rPr lang="en-US" altLang="en-US" sz="1000" b="1"/>
            </a:br>
            <a:br>
              <a:rPr lang="en-US" altLang="en-US" sz="1000" b="1">
                <a:solidFill>
                  <a:schemeClr val="tx1"/>
                </a:solidFill>
              </a:rPr>
            </a:br>
            <a:r>
              <a:rPr lang="en-US" altLang="en-US" sz="1600" b="1">
                <a:solidFill>
                  <a:schemeClr val="tx1"/>
                </a:solidFill>
              </a:rPr>
              <a:t>Date:_______________</a:t>
            </a:r>
          </a:p>
        </p:txBody>
      </p:sp>
      <p:graphicFrame>
        <p:nvGraphicFramePr>
          <p:cNvPr id="1058819" name="Group 3">
            <a:extLst>
              <a:ext uri="{FF2B5EF4-FFF2-40B4-BE49-F238E27FC236}">
                <a16:creationId xmlns:a16="http://schemas.microsoft.com/office/drawing/2014/main" id="{246D9748-C51C-446E-A6DE-8109C512875F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228600" y="1600200"/>
          <a:ext cx="8610600" cy="4738688"/>
        </p:xfrm>
        <a:graphic>
          <a:graphicData uri="http://schemas.openxmlformats.org/drawingml/2006/table">
            <a:tbl>
              <a:tblPr/>
              <a:tblGrid>
                <a:gridCol w="182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5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Time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Activities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Importance (1-10)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Enjoyment (1-10)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7:00 – 8:00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Sleep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8:00 – 9:00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Sleep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9:00 – 10:00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Sleep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10:00 – 11:00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Awake in bed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11:00 – 12:00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Awake in bed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12:00 – 1:00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TV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1:00 – 2:00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TV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2:00 – 3:00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TV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3:00 – 4:00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Laundry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460" name="Line 60">
            <a:extLst>
              <a:ext uri="{FF2B5EF4-FFF2-40B4-BE49-F238E27FC236}">
                <a16:creationId xmlns:a16="http://schemas.microsoft.com/office/drawing/2014/main" id="{BD006A4B-795B-499D-6111-5C7CFE7CEE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295400"/>
            <a:ext cx="8686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7ACEA713-AACC-17E0-347E-E70B2ECB15E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/>
            <a:r>
              <a:rPr lang="en-US" altLang="en-US" sz="4000"/>
              <a:t>Daily Monitoring (Form 1)</a:t>
            </a:r>
            <a:br>
              <a:rPr lang="en-US" altLang="en-US" sz="1000" b="1"/>
            </a:br>
            <a:br>
              <a:rPr lang="en-US" altLang="en-US" sz="1000" b="1">
                <a:solidFill>
                  <a:schemeClr val="tx1"/>
                </a:solidFill>
              </a:rPr>
            </a:br>
            <a:r>
              <a:rPr lang="en-US" altLang="en-US" sz="1600" b="1">
                <a:solidFill>
                  <a:schemeClr val="tx1"/>
                </a:solidFill>
              </a:rPr>
              <a:t>Date:_______________</a:t>
            </a:r>
          </a:p>
        </p:txBody>
      </p:sp>
      <p:graphicFrame>
        <p:nvGraphicFramePr>
          <p:cNvPr id="1058819" name="Group 3">
            <a:extLst>
              <a:ext uri="{FF2B5EF4-FFF2-40B4-BE49-F238E27FC236}">
                <a16:creationId xmlns:a16="http://schemas.microsoft.com/office/drawing/2014/main" id="{34F4340B-0A9C-43B6-9508-23F86789D982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52400" y="1600200"/>
          <a:ext cx="8686800" cy="4738688"/>
        </p:xfrm>
        <a:graphic>
          <a:graphicData uri="http://schemas.openxmlformats.org/drawingml/2006/table">
            <a:tbl>
              <a:tblPr/>
              <a:tblGrid>
                <a:gridCol w="184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2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Time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Activities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Importance (1-10)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Enjoyment (1-10)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7:00 – 8:00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8:00 – 9:00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9:00 – 10:00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10:00 – 11:00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Call friend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11:00 – 12:00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12:00 – 1:00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1:00 – 2:00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Edit resume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2:00 – 3:00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3:00 – 4:00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Laundry (1 load)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 pitchFamily="34" charset="0"/>
                        <a:ea typeface="ＭＳ Ｐゴシック" pitchFamily="34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4508" name="Line 60">
            <a:extLst>
              <a:ext uri="{FF2B5EF4-FFF2-40B4-BE49-F238E27FC236}">
                <a16:creationId xmlns:a16="http://schemas.microsoft.com/office/drawing/2014/main" id="{94CCB7C5-3A6F-4771-5377-B1405A78D3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295400"/>
            <a:ext cx="8686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>
            <a:extLst>
              <a:ext uri="{FF2B5EF4-FFF2-40B4-BE49-F238E27FC236}">
                <a16:creationId xmlns:a16="http://schemas.microsoft.com/office/drawing/2014/main" id="{6FBD25CB-7C6F-FB6E-6649-1F148A70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8001000" cy="762000"/>
          </a:xfrm>
        </p:spPr>
        <p:txBody>
          <a:bodyPr/>
          <a:lstStyle/>
          <a:p>
            <a:pPr algn="ctr"/>
            <a:r>
              <a:rPr lang="en-US" altLang="en-US" sz="4000"/>
              <a:t>Planning and Monitoring</a:t>
            </a:r>
          </a:p>
        </p:txBody>
      </p:sp>
      <p:sp>
        <p:nvSpPr>
          <p:cNvPr id="106499" name="Content Placeholder 2">
            <a:extLst>
              <a:ext uri="{FF2B5EF4-FFF2-40B4-BE49-F238E27FC236}">
                <a16:creationId xmlns:a16="http://schemas.microsoft.com/office/drawing/2014/main" id="{842BB6C9-726B-F203-07ED-605352F92F3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828800"/>
            <a:ext cx="8686800" cy="4038600"/>
          </a:xfrm>
        </p:spPr>
        <p:txBody>
          <a:bodyPr/>
          <a:lstStyle/>
          <a:p>
            <a:r>
              <a:rPr lang="en-US" altLang="en-US" sz="2800"/>
              <a:t>In addition to regular monitoring, completion of planned activities should be noted by circling it in Form 1</a:t>
            </a:r>
          </a:p>
          <a:p>
            <a:endParaRPr lang="en-US" altLang="en-US" sz="2800"/>
          </a:p>
          <a:p>
            <a:r>
              <a:rPr lang="en-US" altLang="en-US" sz="2800"/>
              <a:t>If the activity does not occur it should be crossed out, and the actual performed activity </a:t>
            </a:r>
            <a:r>
              <a:rPr lang="en-US" altLang="en-US" sz="2300">
                <a:latin typeface="Lucida Handwriting" panose="03010101010101010101" pitchFamily="66" charset="0"/>
              </a:rPr>
              <a:t>written</a:t>
            </a:r>
            <a:r>
              <a:rPr lang="en-US" altLang="en-US" sz="2800"/>
              <a:t> in</a:t>
            </a:r>
          </a:p>
          <a:p>
            <a:endParaRPr lang="en-US" altLang="en-US" sz="2800"/>
          </a:p>
          <a:p>
            <a:r>
              <a:rPr lang="en-US" altLang="en-US" sz="2800"/>
              <a:t>This activity can be planned at another time in the week by writing it into a future time point in Form 1- and then circling it or crossing it out again</a:t>
            </a:r>
          </a:p>
          <a:p>
            <a:endParaRPr lang="en-US" altLang="en-US" sz="10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B234E7C-FA28-4AB1-A80B-DB7496EEB44B}"/>
              </a:ext>
            </a:extLst>
          </p:cNvPr>
          <p:cNvSpPr/>
          <p:nvPr/>
        </p:nvSpPr>
        <p:spPr>
          <a:xfrm>
            <a:off x="4648200" y="2286000"/>
            <a:ext cx="1143000" cy="76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CDB16-B57B-49F3-A12D-134547EF0E57}"/>
              </a:ext>
            </a:extLst>
          </p:cNvPr>
          <p:cNvCxnSpPr/>
          <p:nvPr/>
        </p:nvCxnSpPr>
        <p:spPr>
          <a:xfrm>
            <a:off x="6400800" y="3581400"/>
            <a:ext cx="1600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B1B94535-1818-0358-0EAC-E0F2CC657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/>
          <a:lstStyle/>
          <a:p>
            <a:pPr algn="ctr"/>
            <a:r>
              <a:rPr lang="en-US" altLang="en-US" sz="4000" dirty="0"/>
              <a:t>Introduction to Clip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37B7D76-7389-4B92-83E6-B87A20DF43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752600"/>
            <a:ext cx="8686800" cy="4267200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The upcoming clip is focused on the valued activity planning</a:t>
            </a:r>
          </a:p>
          <a:p>
            <a:pPr lvl="1">
              <a:defRPr/>
            </a:pPr>
            <a:r>
              <a:rPr lang="en-US" altLang="en-US" sz="1600" dirty="0">
                <a:hlinkClick r:id="rId3"/>
              </a:rPr>
              <a:t>https://www.dropbox.com/scl/fi/9t3efluco2ef0q5ef22h4/Slide_82_Provider-to-Patient-Activity-Scheduling-Demonstration-NEW-12-291.mp4?rlkey=vxxkm5hzlgjhn6naahb085x2o&amp;st=13chozgy&amp;dl=0</a:t>
            </a:r>
            <a:r>
              <a:rPr lang="en-US" altLang="en-US" sz="1600" dirty="0"/>
              <a:t> </a:t>
            </a:r>
          </a:p>
          <a:p>
            <a:pPr lvl="1">
              <a:defRPr/>
            </a:pPr>
            <a:endParaRPr lang="en-US" altLang="en-US" sz="1000" dirty="0"/>
          </a:p>
          <a:p>
            <a:pPr>
              <a:defRPr/>
            </a:pPr>
            <a:r>
              <a:rPr lang="en-US" altLang="en-US" sz="2400" dirty="0"/>
              <a:t>After the clip, you will have the chance to answer Poll Question #6 </a:t>
            </a:r>
          </a:p>
          <a:p>
            <a:pPr>
              <a:defRPr/>
            </a:pP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4F81F44B-FAB5-CAC5-B817-058275DBB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ctr"/>
            <a:r>
              <a:rPr lang="en-US" altLang="en-US" sz="4000"/>
              <a:t>Session 5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ACBFDF12-6758-90DA-D9F4-F5400B08938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828800"/>
            <a:ext cx="8610600" cy="4343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800" dirty="0"/>
              <a:t>Daily Monitoring with Planning (Form 1): Review Assignment </a:t>
            </a:r>
          </a:p>
          <a:p>
            <a:pPr>
              <a:lnSpc>
                <a:spcPct val="110000"/>
              </a:lnSpc>
            </a:pPr>
            <a:endParaRPr lang="en-US" altLang="en-US" sz="1500" dirty="0"/>
          </a:p>
          <a:p>
            <a:pPr>
              <a:lnSpc>
                <a:spcPct val="110000"/>
              </a:lnSpc>
            </a:pPr>
            <a:r>
              <a:rPr lang="en-US" altLang="en-US" sz="2800" dirty="0"/>
              <a:t>Behavior Contracts (Form 4)</a:t>
            </a:r>
          </a:p>
          <a:p>
            <a:pPr>
              <a:lnSpc>
                <a:spcPct val="110000"/>
              </a:lnSpc>
            </a:pPr>
            <a:endParaRPr lang="en-US" altLang="en-US" sz="1500" dirty="0"/>
          </a:p>
          <a:p>
            <a:pPr>
              <a:lnSpc>
                <a:spcPct val="110000"/>
              </a:lnSpc>
            </a:pPr>
            <a:r>
              <a:rPr lang="en-US" altLang="en-US" sz="2800" dirty="0"/>
              <a:t>Daily Monitoring with Planning (Form 1) for upcoming week</a:t>
            </a:r>
          </a:p>
          <a:p>
            <a:pPr>
              <a:lnSpc>
                <a:spcPct val="11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749E6-7C84-8308-5402-8CF0E549A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CC26DCF9-56BB-2F95-53CA-172237FFF7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/>
            <a:r>
              <a:rPr lang="en-US" altLang="en-US" sz="4000" dirty="0"/>
              <a:t>Daily Monitoring (Form 1) – SUD Version</a:t>
            </a:r>
            <a:br>
              <a:rPr lang="en-US" altLang="en-US" sz="1000" b="1" dirty="0"/>
            </a:br>
            <a:br>
              <a:rPr lang="en-US" altLang="en-US" sz="1000" b="1" dirty="0">
                <a:solidFill>
                  <a:schemeClr val="tx1"/>
                </a:solidFill>
              </a:rPr>
            </a:br>
            <a:r>
              <a:rPr lang="en-US" altLang="en-US" sz="1600" b="1" dirty="0">
                <a:solidFill>
                  <a:schemeClr val="tx1"/>
                </a:solidFill>
              </a:rPr>
              <a:t>Date:_______________</a:t>
            </a:r>
          </a:p>
        </p:txBody>
      </p:sp>
      <p:graphicFrame>
        <p:nvGraphicFramePr>
          <p:cNvPr id="1154051" name="Group 3">
            <a:extLst>
              <a:ext uri="{FF2B5EF4-FFF2-40B4-BE49-F238E27FC236}">
                <a16:creationId xmlns:a16="http://schemas.microsoft.com/office/drawing/2014/main" id="{17C72554-C7DB-123F-E70C-4AF8E472807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37035480"/>
              </p:ext>
            </p:extLst>
          </p:nvPr>
        </p:nvGraphicFramePr>
        <p:xfrm>
          <a:off x="152400" y="1600200"/>
          <a:ext cx="8839200" cy="4865380"/>
        </p:xfrm>
        <a:graphic>
          <a:graphicData uri="http://schemas.openxmlformats.org/drawingml/2006/table">
            <a:tbl>
              <a:tblPr/>
              <a:tblGrid>
                <a:gridCol w="187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49651785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Time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Activities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Importance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(1-10)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Enjoyment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(1-10)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Craving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(1-10)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7:00 – 8:00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Sleep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N/A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8:00 – 9:00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Sleep 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N/A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9:00 – 10:00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Sleep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N/A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10:00 – 11:00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Call sponsor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11:00 – 12:00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Go Coffee shop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12:00 – 1:00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TV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1:00 – 2:00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Edit Resume   TV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2:00 – 3:00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Edit Resume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3:00 – 4:00 pm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Laundry (1 load)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 pitchFamily="34" charset="0"/>
                          <a:ea typeface="ＭＳ Ｐゴシック" pitchFamily="34" charset="-128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4572" name="Line 60">
            <a:extLst>
              <a:ext uri="{FF2B5EF4-FFF2-40B4-BE49-F238E27FC236}">
                <a16:creationId xmlns:a16="http://schemas.microsoft.com/office/drawing/2014/main" id="{3396BA8D-AF59-AE89-4CA4-D2C723112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295400"/>
            <a:ext cx="8686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Oval 4">
            <a:extLst>
              <a:ext uri="{FF2B5EF4-FFF2-40B4-BE49-F238E27FC236}">
                <a16:creationId xmlns:a16="http://schemas.microsoft.com/office/drawing/2014/main" id="{851722E3-BCC6-E972-0074-7FA084106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657600"/>
            <a:ext cx="19050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3900"/>
          </a:p>
        </p:txBody>
      </p:sp>
      <p:cxnSp>
        <p:nvCxnSpPr>
          <p:cNvPr id="3" name="Straight Connector 7">
            <a:extLst>
              <a:ext uri="{FF2B5EF4-FFF2-40B4-BE49-F238E27FC236}">
                <a16:creationId xmlns:a16="http://schemas.microsoft.com/office/drawing/2014/main" id="{1219EB1F-1D49-F336-F75A-5E3C9AD1092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057401" y="5257800"/>
            <a:ext cx="167639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Oval 5">
            <a:extLst>
              <a:ext uri="{FF2B5EF4-FFF2-40B4-BE49-F238E27FC236}">
                <a16:creationId xmlns:a16="http://schemas.microsoft.com/office/drawing/2014/main" id="{926489A3-732A-AFF2-1A8E-A9AE03E81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486400"/>
            <a:ext cx="22098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3900"/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B8E656AB-0FD3-7962-DE8F-6AAC28078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943600"/>
            <a:ext cx="28956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3900"/>
          </a:p>
        </p:txBody>
      </p:sp>
    </p:spTree>
    <p:extLst>
      <p:ext uri="{BB962C8B-B14F-4D97-AF65-F5344CB8AC3E}">
        <p14:creationId xmlns:p14="http://schemas.microsoft.com/office/powerpoint/2010/main" val="20023738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3AA177E8-124B-EA5F-0074-0CD6233E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85800"/>
          </a:xfrm>
        </p:spPr>
        <p:txBody>
          <a:bodyPr/>
          <a:lstStyle/>
          <a:p>
            <a:pPr algn="ctr"/>
            <a:r>
              <a:rPr lang="en-US" altLang="en-US" sz="4000"/>
              <a:t>Contracts (Form 4)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976385FE-A927-970C-39FF-4D4D611AF10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153400" cy="4419600"/>
          </a:xfrm>
        </p:spPr>
        <p:txBody>
          <a:bodyPr/>
          <a:lstStyle/>
          <a:p>
            <a:r>
              <a:rPr lang="en-US" altLang="en-US" sz="2800"/>
              <a:t>Designed to facilitate getting support from others for difficult activities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200"/>
          </a:p>
          <a:p>
            <a:r>
              <a:rPr lang="en-US" altLang="en-US" sz="2800"/>
              <a:t>Establish </a:t>
            </a:r>
            <a:r>
              <a:rPr lang="ja-JP" altLang="en-US" sz="2800"/>
              <a:t>“</a:t>
            </a:r>
            <a:r>
              <a:rPr lang="en-US" altLang="ja-JP" sz="2800"/>
              <a:t>outside</a:t>
            </a:r>
            <a:r>
              <a:rPr lang="ja-JP" altLang="en-US" sz="2800"/>
              <a:t>”</a:t>
            </a:r>
            <a:r>
              <a:rPr lang="en-US" altLang="ja-JP" sz="2800"/>
              <a:t> environment that supports healthy behavior through assertive requests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200"/>
          </a:p>
          <a:p>
            <a:r>
              <a:rPr lang="en-US" altLang="en-US" sz="2800"/>
              <a:t>Outline specific means of assistance</a:t>
            </a:r>
          </a:p>
          <a:p>
            <a:endParaRPr lang="en-US" altLang="en-US" sz="1200"/>
          </a:p>
          <a:p>
            <a:r>
              <a:rPr lang="en-US" altLang="en-US" sz="2800"/>
              <a:t>Create separate contract for each problem activity</a:t>
            </a:r>
          </a:p>
          <a:p>
            <a:endParaRPr lang="en-US" altLang="en-US" sz="1200"/>
          </a:p>
          <a:p>
            <a:r>
              <a:rPr lang="en-US" altLang="en-US" sz="2800"/>
              <a:t>Doesn</a:t>
            </a:r>
            <a:r>
              <a:rPr lang="ja-JP" altLang="en-US" sz="2800"/>
              <a:t>’</a:t>
            </a:r>
            <a:r>
              <a:rPr lang="en-US" altLang="ja-JP" sz="2800"/>
              <a:t>t need to be done explicitly as a contract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>
            <a:extLst>
              <a:ext uri="{FF2B5EF4-FFF2-40B4-BE49-F238E27FC236}">
                <a16:creationId xmlns:a16="http://schemas.microsoft.com/office/drawing/2014/main" id="{07A09598-420E-493D-95FA-6AD33698E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45677"/>
            <a:ext cx="8686800" cy="4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>
              <a:defRPr/>
            </a:pPr>
            <a:r>
              <a:rPr lang="en-US" sz="2200" dirty="0">
                <a:latin typeface="Tw Cen MT" pitchFamily="34" charset="0"/>
                <a:ea typeface="ＭＳ Ｐゴシック" charset="-128"/>
              </a:rPr>
              <a:t>What is one activity that you could use help completing? </a:t>
            </a:r>
          </a:p>
          <a:p>
            <a:pPr>
              <a:defRPr/>
            </a:pPr>
            <a:endParaRPr lang="en-US" sz="1600" dirty="0">
              <a:latin typeface="Tw Cen MT" pitchFamily="34" charset="0"/>
              <a:ea typeface="ＭＳ Ｐゴシック" charset="-128"/>
            </a:endParaRPr>
          </a:p>
          <a:p>
            <a:pPr>
              <a:defRPr/>
            </a:pPr>
            <a:r>
              <a:rPr lang="en-US" sz="1600" dirty="0">
                <a:latin typeface="Tw Cen MT" pitchFamily="34" charset="0"/>
                <a:ea typeface="ＭＳ Ｐゴシック" charset="-128"/>
              </a:rPr>
              <a:t>_____________________________________________________________________ </a:t>
            </a:r>
          </a:p>
          <a:p>
            <a:pPr>
              <a:defRPr/>
            </a:pPr>
            <a:endParaRPr lang="en-US" sz="1600" dirty="0">
              <a:latin typeface="Tw Cen MT" pitchFamily="34" charset="0"/>
              <a:ea typeface="ＭＳ Ｐゴシック" charset="-128"/>
            </a:endParaRPr>
          </a:p>
          <a:p>
            <a:pPr>
              <a:defRPr/>
            </a:pPr>
            <a:endParaRPr lang="en-US" sz="1600" dirty="0">
              <a:latin typeface="Tw Cen MT" pitchFamily="34" charset="0"/>
              <a:ea typeface="ＭＳ Ｐゴシック" charset="-128"/>
            </a:endParaRPr>
          </a:p>
          <a:p>
            <a:pPr>
              <a:defRPr/>
            </a:pPr>
            <a:r>
              <a:rPr lang="en-US" sz="2200" dirty="0">
                <a:latin typeface="Tw Cen MT" pitchFamily="34" charset="0"/>
                <a:ea typeface="ＭＳ Ｐゴシック" charset="-128"/>
              </a:rPr>
              <a:t>Name one person who can help you with this activity:</a:t>
            </a:r>
            <a:r>
              <a:rPr lang="en-US" sz="1600" dirty="0">
                <a:latin typeface="Tw Cen MT" pitchFamily="34" charset="0"/>
                <a:ea typeface="ＭＳ Ｐゴシック" charset="-128"/>
              </a:rPr>
              <a:t> </a:t>
            </a:r>
          </a:p>
          <a:p>
            <a:pPr>
              <a:defRPr/>
            </a:pPr>
            <a:endParaRPr lang="en-US" sz="1600" dirty="0">
              <a:latin typeface="Tw Cen MT" pitchFamily="34" charset="0"/>
              <a:ea typeface="ＭＳ Ｐゴシック" charset="-128"/>
            </a:endParaRPr>
          </a:p>
          <a:p>
            <a:pPr>
              <a:defRPr/>
            </a:pPr>
            <a:r>
              <a:rPr lang="en-US" sz="1600" dirty="0">
                <a:latin typeface="Tw Cen MT" pitchFamily="34" charset="0"/>
                <a:ea typeface="ＭＳ Ｐゴシック" charset="-128"/>
              </a:rPr>
              <a:t>_____________________________________________________________________ </a:t>
            </a:r>
          </a:p>
          <a:p>
            <a:pPr>
              <a:defRPr/>
            </a:pPr>
            <a:endParaRPr lang="en-US" sz="1600" dirty="0">
              <a:latin typeface="Tw Cen MT" pitchFamily="34" charset="0"/>
              <a:ea typeface="ＭＳ Ｐゴシック" charset="-128"/>
            </a:endParaRPr>
          </a:p>
          <a:p>
            <a:pPr>
              <a:defRPr/>
            </a:pPr>
            <a:endParaRPr lang="en-US" sz="1600" dirty="0">
              <a:latin typeface="Tw Cen MT" pitchFamily="34" charset="0"/>
              <a:ea typeface="ＭＳ Ｐゴシック" charset="-128"/>
            </a:endParaRPr>
          </a:p>
          <a:p>
            <a:pPr>
              <a:defRPr/>
            </a:pPr>
            <a:r>
              <a:rPr lang="en-US" sz="2200" dirty="0">
                <a:latin typeface="Tw Cen MT" pitchFamily="34" charset="0"/>
                <a:ea typeface="ＭＳ Ｐゴシック" charset="-128"/>
              </a:rPr>
              <a:t>What are the ways this person can help you with this activity:</a:t>
            </a:r>
          </a:p>
          <a:p>
            <a:pPr>
              <a:defRPr/>
            </a:pPr>
            <a:endParaRPr lang="en-US" sz="1600" dirty="0">
              <a:latin typeface="Tw Cen MT" pitchFamily="34" charset="0"/>
              <a:ea typeface="ＭＳ Ｐゴシック" charset="-128"/>
            </a:endParaRPr>
          </a:p>
          <a:p>
            <a:pPr>
              <a:defRPr/>
            </a:pPr>
            <a:r>
              <a:rPr lang="en-US" sz="2200" dirty="0">
                <a:latin typeface="Tw Cen MT" pitchFamily="34" charset="0"/>
                <a:ea typeface="ＭＳ Ｐゴシック" charset="-128"/>
              </a:rPr>
              <a:t>1.</a:t>
            </a:r>
            <a:r>
              <a:rPr lang="en-US" sz="1600" dirty="0">
                <a:latin typeface="Tw Cen MT" pitchFamily="34" charset="0"/>
                <a:ea typeface="ＭＳ Ｐゴシック" charset="-128"/>
              </a:rPr>
              <a:t> _______________________________________________________________________</a:t>
            </a:r>
          </a:p>
          <a:p>
            <a:pPr>
              <a:defRPr/>
            </a:pPr>
            <a:endParaRPr lang="en-US" sz="1600" dirty="0">
              <a:latin typeface="Tw Cen MT" pitchFamily="34" charset="0"/>
              <a:ea typeface="ＭＳ Ｐゴシック" charset="-128"/>
            </a:endParaRPr>
          </a:p>
          <a:p>
            <a:pPr>
              <a:defRPr/>
            </a:pPr>
            <a:r>
              <a:rPr lang="en-US" sz="2200" dirty="0">
                <a:latin typeface="Tw Cen MT" pitchFamily="34" charset="0"/>
                <a:ea typeface="ＭＳ Ｐゴシック" charset="-128"/>
              </a:rPr>
              <a:t>2.</a:t>
            </a:r>
            <a:r>
              <a:rPr lang="en-US" sz="1600" dirty="0">
                <a:latin typeface="Tw Cen MT" pitchFamily="34" charset="0"/>
                <a:ea typeface="ＭＳ Ｐゴシック" charset="-128"/>
              </a:rPr>
              <a:t> ________________________________________________________________________</a:t>
            </a:r>
          </a:p>
          <a:p>
            <a:pPr>
              <a:defRPr/>
            </a:pPr>
            <a:endParaRPr lang="en-US" sz="1600" dirty="0">
              <a:latin typeface="Tw Cen MT" pitchFamily="34" charset="0"/>
              <a:ea typeface="ＭＳ Ｐゴシック" charset="-128"/>
            </a:endParaRPr>
          </a:p>
          <a:p>
            <a:pPr>
              <a:defRPr/>
            </a:pPr>
            <a:r>
              <a:rPr lang="en-US" sz="2200" dirty="0">
                <a:latin typeface="Tw Cen MT" pitchFamily="34" charset="0"/>
                <a:ea typeface="ＭＳ Ｐゴシック" charset="-128"/>
              </a:rPr>
              <a:t>3.</a:t>
            </a:r>
            <a:r>
              <a:rPr lang="en-US" sz="1600" dirty="0">
                <a:latin typeface="Tw Cen MT" pitchFamily="34" charset="0"/>
                <a:ea typeface="ＭＳ Ｐゴシック" charset="-128"/>
              </a:rPr>
              <a:t> ________________________________________________________________________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24F3443-B634-5E06-6710-4F1DCC6A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85800"/>
          </a:xfrm>
        </p:spPr>
        <p:txBody>
          <a:bodyPr/>
          <a:lstStyle/>
          <a:p>
            <a:pPr algn="ctr"/>
            <a:r>
              <a:rPr lang="en-US" altLang="en-US" sz="4000" dirty="0"/>
              <a:t>Contracts (Form 4) - Example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18B84366-33D2-BE62-78A3-1E4967722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7200"/>
            <a:ext cx="8001000" cy="685800"/>
          </a:xfrm>
        </p:spPr>
        <p:txBody>
          <a:bodyPr/>
          <a:lstStyle/>
          <a:p>
            <a:pPr algn="ctr" eaLnBrk="1" hangingPunct="1"/>
            <a:r>
              <a:rPr lang="en-US" altLang="en-US" sz="4000"/>
              <a:t>Sessions 6-10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1BDBA268-CBC3-0F6C-E101-F0D57778B38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981200"/>
            <a:ext cx="8610600" cy="4191000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Daily Monitoring and Planning (Form 1): Review of past week and prepare for upcoming week</a:t>
            </a:r>
          </a:p>
          <a:p>
            <a:pPr eaLnBrk="1" hangingPunct="1"/>
            <a:endParaRPr lang="en-US" altLang="en-US" sz="2200" dirty="0"/>
          </a:p>
          <a:p>
            <a:pPr eaLnBrk="1" hangingPunct="1"/>
            <a:r>
              <a:rPr lang="en-US" altLang="en-US" sz="2200" dirty="0"/>
              <a:t>Concept review for:</a:t>
            </a:r>
          </a:p>
          <a:p>
            <a:pPr eaLnBrk="1" hangingPunct="1"/>
            <a:r>
              <a:rPr lang="en-US" altLang="en-US" sz="2200" dirty="0"/>
              <a:t>Contracts (Form 4) – session 6 (1</a:t>
            </a:r>
            <a:r>
              <a:rPr lang="en-US" altLang="en-US" sz="2200" baseline="30000" dirty="0"/>
              <a:t>st</a:t>
            </a:r>
            <a:r>
              <a:rPr lang="en-US" altLang="en-US" sz="2200" dirty="0"/>
              <a:t> time reviewed)  </a:t>
            </a:r>
          </a:p>
          <a:p>
            <a:pPr eaLnBrk="1" hangingPunct="1"/>
            <a:r>
              <a:rPr lang="en-US" altLang="en-US" sz="2200" dirty="0"/>
              <a:t>Life Areas, Values, and Activities (Form 2) – session 7</a:t>
            </a:r>
          </a:p>
          <a:p>
            <a:pPr eaLnBrk="1" hangingPunct="1"/>
            <a:r>
              <a:rPr lang="en-US" altLang="en-US" sz="2200" dirty="0"/>
              <a:t>Activity Selection and Ranking (Form 3) – session 8</a:t>
            </a:r>
          </a:p>
          <a:p>
            <a:pPr eaLnBrk="1" hangingPunct="1"/>
            <a:r>
              <a:rPr lang="en-US" altLang="en-US" sz="2200" dirty="0"/>
              <a:t>Contracts (Form 4) – session 9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eaLnBrk="1" hangingPunct="1"/>
            <a:r>
              <a:rPr lang="en-US" altLang="en-US" sz="2200" dirty="0"/>
              <a:t>Session 10: Ending therapy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95F50-88FD-F06F-72BB-5BDEC43E7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12BA9-F323-BA5E-9F68-08BEAED5E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41300"/>
            <a:ext cx="8458200" cy="754063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BBA as a Swiss Army Knife Intervention?</a:t>
            </a:r>
          </a:p>
        </p:txBody>
      </p:sp>
      <p:grpSp>
        <p:nvGrpSpPr>
          <p:cNvPr id="124931" name="Group 2">
            <a:extLst>
              <a:ext uri="{FF2B5EF4-FFF2-40B4-BE49-F238E27FC236}">
                <a16:creationId xmlns:a16="http://schemas.microsoft.com/office/drawing/2014/main" id="{0EBCF030-9D76-B66A-25BA-77157EFF6DA7}"/>
              </a:ext>
            </a:extLst>
          </p:cNvPr>
          <p:cNvGrpSpPr>
            <a:grpSpLocks/>
          </p:cNvGrpSpPr>
          <p:nvPr/>
        </p:nvGrpSpPr>
        <p:grpSpPr bwMode="auto">
          <a:xfrm>
            <a:off x="2490788" y="1676400"/>
            <a:ext cx="4391025" cy="4391025"/>
            <a:chOff x="3036816" y="566256"/>
            <a:chExt cx="5855515" cy="5855515"/>
          </a:xfrm>
        </p:grpSpPr>
        <p:pic>
          <p:nvPicPr>
            <p:cNvPr id="124932" name="Picture 3">
              <a:extLst>
                <a:ext uri="{FF2B5EF4-FFF2-40B4-BE49-F238E27FC236}">
                  <a16:creationId xmlns:a16="http://schemas.microsoft.com/office/drawing/2014/main" id="{E3F3F1C3-DDB6-8921-E959-E386B25EA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6816" y="566256"/>
              <a:ext cx="5855515" cy="5855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21BCEF-6405-9890-44DE-973FA6DE17D8}"/>
                </a:ext>
              </a:extLst>
            </p:cNvPr>
            <p:cNvSpPr/>
            <p:nvPr/>
          </p:nvSpPr>
          <p:spPr>
            <a:xfrm>
              <a:off x="7190294" y="2382609"/>
              <a:ext cx="1668166" cy="39925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E3EEF4-40F1-3987-4145-56EBD8F2121B}"/>
                </a:ext>
              </a:extLst>
            </p:cNvPr>
            <p:cNvSpPr/>
            <p:nvPr/>
          </p:nvSpPr>
          <p:spPr>
            <a:xfrm>
              <a:off x="3036816" y="566256"/>
              <a:ext cx="2438739" cy="28917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18637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itle 1">
            <a:extLst>
              <a:ext uri="{FF2B5EF4-FFF2-40B4-BE49-F238E27FC236}">
                <a16:creationId xmlns:a16="http://schemas.microsoft.com/office/drawing/2014/main" id="{00ADC71E-979B-0551-4977-EBDB3346B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algn="ctr"/>
            <a:r>
              <a:rPr lang="en-US" altLang="en-US" dirty="0"/>
              <a:t>Some Challenging Issues</a:t>
            </a:r>
          </a:p>
        </p:txBody>
      </p:sp>
      <p:sp>
        <p:nvSpPr>
          <p:cNvPr id="128003" name="Content Placeholder 2">
            <a:extLst>
              <a:ext uri="{FF2B5EF4-FFF2-40B4-BE49-F238E27FC236}">
                <a16:creationId xmlns:a16="http://schemas.microsoft.com/office/drawing/2014/main" id="{8D0AA13F-CF4F-6E27-93EF-C20C93A0F1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828800"/>
            <a:ext cx="8686800" cy="4343400"/>
          </a:xfrm>
        </p:spPr>
        <p:txBody>
          <a:bodyPr/>
          <a:lstStyle/>
          <a:p>
            <a:r>
              <a:rPr lang="en-US" altLang="en-US" sz="2400" dirty="0"/>
              <a:t>Rationale can be complicated for some especially if their substance use has created cognitive difficulties/arrested development</a:t>
            </a:r>
          </a:p>
          <a:p>
            <a:endParaRPr lang="en-US" altLang="en-US" sz="300" dirty="0"/>
          </a:p>
          <a:p>
            <a:r>
              <a:rPr lang="en-US" altLang="en-US" sz="2400" dirty="0"/>
              <a:t>Values will mean different things across patients and at different times of their sobriety – some may feel undeserving</a:t>
            </a:r>
          </a:p>
          <a:p>
            <a:endParaRPr lang="en-US" altLang="en-US" sz="300" dirty="0"/>
          </a:p>
          <a:p>
            <a:r>
              <a:rPr lang="en-US" altLang="en-US" sz="2400" dirty="0"/>
              <a:t>You may need to address non-adherence (in and out of session) related to their substance use and/or treatment structure</a:t>
            </a:r>
          </a:p>
          <a:p>
            <a:endParaRPr lang="en-US" altLang="en-US" sz="300" dirty="0"/>
          </a:p>
          <a:p>
            <a:r>
              <a:rPr lang="en-US" altLang="en-US" sz="2400" dirty="0"/>
              <a:t>Some patients will have limited environments (especially related to substance use consequences) that make many activities hard to do</a:t>
            </a:r>
          </a:p>
          <a:p>
            <a:endParaRPr lang="en-US" altLang="en-US" sz="300" dirty="0"/>
          </a:p>
          <a:p>
            <a:r>
              <a:rPr lang="en-US" altLang="en-US" sz="2400" dirty="0"/>
              <a:t>Patients may bring clinical myopia overly focused on substance use that will make it hard to develop a rounded approach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C818A-EE8A-84B6-F914-101470BD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A80EE3B-4A44-01C3-A004-03B8F1494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001000" cy="9144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>
                <a:ea typeface="+mj-ea"/>
                <a:cs typeface="+mj-cs"/>
              </a:rPr>
              <a:t>Tips for Using Brief BA in a Group Setting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FCD46CDC-B6F2-3FDA-69F4-B3EAEE9FAA8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1828800"/>
            <a:ext cx="8458200" cy="4495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600" b="1" dirty="0"/>
              <a:t>Essential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Facilitate brainstorming opportunities as a group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Create multiple break-out discussion group opportunities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Balance participation with comfort-level/privacy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600" b="1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600" b="1" dirty="0"/>
              <a:t>Optional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Leverage those who are “getting it”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Optional: Add members into each other’s activities/contracts</a:t>
            </a:r>
          </a:p>
        </p:txBody>
      </p:sp>
    </p:spTree>
    <p:extLst>
      <p:ext uri="{BB962C8B-B14F-4D97-AF65-F5344CB8AC3E}">
        <p14:creationId xmlns:p14="http://schemas.microsoft.com/office/powerpoint/2010/main" val="15429353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itle 1">
            <a:extLst>
              <a:ext uri="{FF2B5EF4-FFF2-40B4-BE49-F238E27FC236}">
                <a16:creationId xmlns:a16="http://schemas.microsoft.com/office/drawing/2014/main" id="{F8E5078E-D1B5-AB53-FD0D-8E9A57B0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3505200" cy="990600"/>
          </a:xfrm>
        </p:spPr>
        <p:txBody>
          <a:bodyPr/>
          <a:lstStyle/>
          <a:p>
            <a:r>
              <a:rPr lang="en-US" altLang="en-US" sz="3600"/>
              <a:t>Complete NOW</a:t>
            </a:r>
          </a:p>
        </p:txBody>
      </p:sp>
      <p:sp>
        <p:nvSpPr>
          <p:cNvPr id="131075" name="Content Placeholder 2">
            <a:extLst>
              <a:ext uri="{FF2B5EF4-FFF2-40B4-BE49-F238E27FC236}">
                <a16:creationId xmlns:a16="http://schemas.microsoft.com/office/drawing/2014/main" id="{C64CF23B-4118-B1E6-924F-3AF9F0CEB2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1447800"/>
            <a:ext cx="4267200" cy="4572000"/>
          </a:xfrm>
        </p:spPr>
        <p:txBody>
          <a:bodyPr/>
          <a:lstStyle/>
          <a:p>
            <a:r>
              <a:rPr lang="en-US" altLang="en-US" sz="2000"/>
              <a:t> What is one </a:t>
            </a:r>
            <a:r>
              <a:rPr lang="en-US" altLang="en-US" sz="2000" b="1"/>
              <a:t>value</a:t>
            </a:r>
            <a:r>
              <a:rPr lang="en-US" altLang="en-US" sz="2000"/>
              <a:t> you</a:t>
            </a:r>
            <a:r>
              <a:rPr lang="ja-JP" altLang="en-US" sz="2000"/>
              <a:t>’</a:t>
            </a:r>
            <a:r>
              <a:rPr lang="en-US" altLang="ja-JP" sz="2000"/>
              <a:t>d like to work on today?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/>
          </a:p>
          <a:p>
            <a:r>
              <a:rPr lang="en-US" altLang="en-US" sz="2000"/>
              <a:t>What is an </a:t>
            </a:r>
            <a:r>
              <a:rPr lang="en-US" altLang="en-US" sz="2000" b="1"/>
              <a:t>activity</a:t>
            </a:r>
            <a:r>
              <a:rPr lang="en-US" altLang="en-US" sz="2000"/>
              <a:t> that you can do today for your value?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/>
          </a:p>
          <a:p>
            <a:r>
              <a:rPr lang="en-US" altLang="en-US" sz="2000"/>
              <a:t>What </a:t>
            </a:r>
            <a:r>
              <a:rPr lang="en-US" altLang="en-US" sz="2000" b="1"/>
              <a:t>time</a:t>
            </a:r>
            <a:r>
              <a:rPr lang="en-US" altLang="en-US" sz="2000"/>
              <a:t> in the next 24 hours do you plan to do this activity?</a:t>
            </a:r>
          </a:p>
          <a:p>
            <a:endParaRPr lang="en-US" altLang="en-US"/>
          </a:p>
        </p:txBody>
      </p:sp>
      <p:sp>
        <p:nvSpPr>
          <p:cNvPr id="131076" name="Content Placeholder 3">
            <a:extLst>
              <a:ext uri="{FF2B5EF4-FFF2-40B4-BE49-F238E27FC236}">
                <a16:creationId xmlns:a16="http://schemas.microsoft.com/office/drawing/2014/main" id="{A1DC837C-D1F1-1125-3488-1225E1E299A2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114800" y="1524000"/>
            <a:ext cx="5029200" cy="4572000"/>
          </a:xfrm>
        </p:spPr>
        <p:txBody>
          <a:bodyPr/>
          <a:lstStyle/>
          <a:p>
            <a:r>
              <a:rPr lang="en-US" altLang="en-US" sz="2000"/>
              <a:t>Did you </a:t>
            </a:r>
            <a:r>
              <a:rPr lang="en-US" altLang="en-US" sz="2000" b="1"/>
              <a:t>complete</a:t>
            </a:r>
            <a:r>
              <a:rPr lang="en-US" altLang="en-US" sz="2000"/>
              <a:t> the activity?   YES    NO</a:t>
            </a:r>
          </a:p>
          <a:p>
            <a:endParaRPr lang="en-US" altLang="en-US" sz="1000"/>
          </a:p>
          <a:p>
            <a:r>
              <a:rPr lang="en-US" altLang="en-US" sz="2000"/>
              <a:t>If you did complete the activity, when did you do it?</a:t>
            </a:r>
          </a:p>
          <a:p>
            <a:endParaRPr lang="en-US" altLang="en-US" sz="1000"/>
          </a:p>
          <a:p>
            <a:r>
              <a:rPr lang="en-US" altLang="en-US" sz="2000"/>
              <a:t> Was it when you planned to do it? If not, what happened?</a:t>
            </a:r>
          </a:p>
          <a:p>
            <a:endParaRPr lang="en-US" altLang="en-US" sz="1000"/>
          </a:p>
          <a:p>
            <a:r>
              <a:rPr lang="en-US" altLang="en-US" sz="2000"/>
              <a:t>If you did complete the activity, circle how much you enjoyed it:</a:t>
            </a:r>
          </a:p>
          <a:p>
            <a:endParaRPr lang="en-US" altLang="en-US" sz="1000"/>
          </a:p>
          <a:p>
            <a:r>
              <a:rPr lang="en-US" altLang="en-US" sz="2000"/>
              <a:t>If you did complete the activity, circle how important this activity was to your value: </a:t>
            </a:r>
          </a:p>
          <a:p>
            <a:endParaRPr lang="en-US" altLang="en-US" sz="2000"/>
          </a:p>
          <a:p>
            <a:r>
              <a:rPr lang="en-US" altLang="en-US" sz="2000"/>
              <a:t>If you didn</a:t>
            </a:r>
            <a:r>
              <a:rPr lang="ja-JP" altLang="en-US" sz="2000"/>
              <a:t>’</a:t>
            </a:r>
            <a:r>
              <a:rPr lang="en-US" altLang="ja-JP" sz="2000"/>
              <a:t>t complete the activity, why not? </a:t>
            </a:r>
          </a:p>
          <a:p>
            <a:endParaRPr lang="en-US" altLang="en-US"/>
          </a:p>
        </p:txBody>
      </p:sp>
      <p:grpSp>
        <p:nvGrpSpPr>
          <p:cNvPr id="131077" name="Group 3">
            <a:extLst>
              <a:ext uri="{FF2B5EF4-FFF2-40B4-BE49-F238E27FC236}">
                <a16:creationId xmlns:a16="http://schemas.microsoft.com/office/drawing/2014/main" id="{0516139C-34A1-40BD-CF46-3CBB94D9A94C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4425950"/>
            <a:ext cx="1103313" cy="307975"/>
            <a:chOff x="10276" y="4788"/>
            <a:chExt cx="1645" cy="506"/>
          </a:xfrm>
        </p:grpSpPr>
        <p:grpSp>
          <p:nvGrpSpPr>
            <p:cNvPr id="131085" name="Group 4">
              <a:extLst>
                <a:ext uri="{FF2B5EF4-FFF2-40B4-BE49-F238E27FC236}">
                  <a16:creationId xmlns:a16="http://schemas.microsoft.com/office/drawing/2014/main" id="{01E7712A-CD3F-0E0F-C105-EC6403B84B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476" y="4788"/>
              <a:ext cx="445" cy="505"/>
              <a:chOff x="2451" y="3664"/>
              <a:chExt cx="1178" cy="1360"/>
            </a:xfrm>
          </p:grpSpPr>
          <p:sp>
            <p:nvSpPr>
              <p:cNvPr id="131098" name="AutoShape 5">
                <a:extLst>
                  <a:ext uri="{FF2B5EF4-FFF2-40B4-BE49-F238E27FC236}">
                    <a16:creationId xmlns:a16="http://schemas.microsoft.com/office/drawing/2014/main" id="{FD74DDCE-C134-3CCA-DE65-1BD0763023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51" y="3664"/>
                <a:ext cx="1178" cy="1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  <p:sp>
            <p:nvSpPr>
              <p:cNvPr id="131099" name="Oval 6">
                <a:extLst>
                  <a:ext uri="{FF2B5EF4-FFF2-40B4-BE49-F238E27FC236}">
                    <a16:creationId xmlns:a16="http://schemas.microsoft.com/office/drawing/2014/main" id="{186FABBA-7223-FB17-6815-808E61BD22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1" y="3664"/>
                <a:ext cx="1178" cy="136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  <p:sp>
            <p:nvSpPr>
              <p:cNvPr id="131100" name="Oval 7">
                <a:extLst>
                  <a:ext uri="{FF2B5EF4-FFF2-40B4-BE49-F238E27FC236}">
                    <a16:creationId xmlns:a16="http://schemas.microsoft.com/office/drawing/2014/main" id="{B49AC97B-6A95-09B5-726C-683E1E534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5" y="4064"/>
                <a:ext cx="157" cy="16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  <p:sp>
            <p:nvSpPr>
              <p:cNvPr id="131101" name="Oval 8">
                <a:extLst>
                  <a:ext uri="{FF2B5EF4-FFF2-40B4-BE49-F238E27FC236}">
                    <a16:creationId xmlns:a16="http://schemas.microsoft.com/office/drawing/2014/main" id="{EB53F367-B38E-C14B-BDD1-22CCE66F33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6" y="4064"/>
                <a:ext cx="157" cy="16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  <p:sp>
            <p:nvSpPr>
              <p:cNvPr id="131102" name="AutoShape 9">
                <a:extLst>
                  <a:ext uri="{FF2B5EF4-FFF2-40B4-BE49-F238E27FC236}">
                    <a16:creationId xmlns:a16="http://schemas.microsoft.com/office/drawing/2014/main" id="{A3162171-B599-BC26-3676-DC05DACE8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920" y="4309"/>
                <a:ext cx="240" cy="550"/>
              </a:xfrm>
              <a:prstGeom prst="moon">
                <a:avLst>
                  <a:gd name="adj" fmla="val 50000"/>
                </a:avLst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</p:grpSp>
        <p:grpSp>
          <p:nvGrpSpPr>
            <p:cNvPr id="131086" name="Group 10">
              <a:extLst>
                <a:ext uri="{FF2B5EF4-FFF2-40B4-BE49-F238E27FC236}">
                  <a16:creationId xmlns:a16="http://schemas.microsoft.com/office/drawing/2014/main" id="{42690BD5-F430-269F-D26F-DD94D40E4F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276" y="4788"/>
              <a:ext cx="448" cy="504"/>
              <a:chOff x="2451" y="3664"/>
              <a:chExt cx="388" cy="449"/>
            </a:xfrm>
          </p:grpSpPr>
          <p:sp>
            <p:nvSpPr>
              <p:cNvPr id="131093" name="AutoShape 11">
                <a:extLst>
                  <a:ext uri="{FF2B5EF4-FFF2-40B4-BE49-F238E27FC236}">
                    <a16:creationId xmlns:a16="http://schemas.microsoft.com/office/drawing/2014/main" id="{01D03368-9F61-8F8F-8FEA-B8BCDE8186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51" y="3664"/>
                <a:ext cx="388" cy="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  <p:sp>
            <p:nvSpPr>
              <p:cNvPr id="131094" name="Oval 12">
                <a:extLst>
                  <a:ext uri="{FF2B5EF4-FFF2-40B4-BE49-F238E27FC236}">
                    <a16:creationId xmlns:a16="http://schemas.microsoft.com/office/drawing/2014/main" id="{ED4D97D8-5C9B-F515-FE8A-0019E712F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1" y="3664"/>
                <a:ext cx="388" cy="44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  <p:sp>
            <p:nvSpPr>
              <p:cNvPr id="131095" name="Oval 13">
                <a:extLst>
                  <a:ext uri="{FF2B5EF4-FFF2-40B4-BE49-F238E27FC236}">
                    <a16:creationId xmlns:a16="http://schemas.microsoft.com/office/drawing/2014/main" id="{AEC7CAC5-2494-8B18-7457-C5B9FE0BB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4" y="3796"/>
                <a:ext cx="52" cy="5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  <p:sp>
            <p:nvSpPr>
              <p:cNvPr id="131096" name="Oval 14">
                <a:extLst>
                  <a:ext uri="{FF2B5EF4-FFF2-40B4-BE49-F238E27FC236}">
                    <a16:creationId xmlns:a16="http://schemas.microsoft.com/office/drawing/2014/main" id="{0A3B6DCA-2442-CB93-B77C-4EFF35A6D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0" y="3796"/>
                <a:ext cx="52" cy="53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  <p:sp>
            <p:nvSpPr>
              <p:cNvPr id="131097" name="AutoShape 15">
                <a:extLst>
                  <a:ext uri="{FF2B5EF4-FFF2-40B4-BE49-F238E27FC236}">
                    <a16:creationId xmlns:a16="http://schemas.microsoft.com/office/drawing/2014/main" id="{75C77020-F790-4359-D3D5-A76BA8A5A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605" y="3877"/>
                <a:ext cx="79" cy="182"/>
              </a:xfrm>
              <a:prstGeom prst="moon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</p:grpSp>
        <p:grpSp>
          <p:nvGrpSpPr>
            <p:cNvPr id="131087" name="Group 16">
              <a:extLst>
                <a:ext uri="{FF2B5EF4-FFF2-40B4-BE49-F238E27FC236}">
                  <a16:creationId xmlns:a16="http://schemas.microsoft.com/office/drawing/2014/main" id="{8EC5352D-30F6-DEF8-1921-9FA28549EE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76" y="4788"/>
              <a:ext cx="447" cy="506"/>
              <a:chOff x="10876" y="4068"/>
              <a:chExt cx="447" cy="506"/>
            </a:xfrm>
          </p:grpSpPr>
          <p:sp>
            <p:nvSpPr>
              <p:cNvPr id="131088" name="AutoShape 17">
                <a:extLst>
                  <a:ext uri="{FF2B5EF4-FFF2-40B4-BE49-F238E27FC236}">
                    <a16:creationId xmlns:a16="http://schemas.microsoft.com/office/drawing/2014/main" id="{B50BA152-165C-59D5-1D9D-A8833D0D71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876" y="4068"/>
                <a:ext cx="447" cy="5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  <p:sp>
            <p:nvSpPr>
              <p:cNvPr id="131089" name="Oval 18">
                <a:extLst>
                  <a:ext uri="{FF2B5EF4-FFF2-40B4-BE49-F238E27FC236}">
                    <a16:creationId xmlns:a16="http://schemas.microsoft.com/office/drawing/2014/main" id="{C05AA39C-F479-BA69-39EF-2B49FE438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76" y="4068"/>
                <a:ext cx="447" cy="506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  <p:sp>
            <p:nvSpPr>
              <p:cNvPr id="131090" name="Oval 19">
                <a:extLst>
                  <a:ext uri="{FF2B5EF4-FFF2-40B4-BE49-F238E27FC236}">
                    <a16:creationId xmlns:a16="http://schemas.microsoft.com/office/drawing/2014/main" id="{D6894AA3-B2E9-A649-FE39-6A05403DE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95" y="4217"/>
                <a:ext cx="60" cy="59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  <p:sp>
            <p:nvSpPr>
              <p:cNvPr id="131091" name="Oval 20">
                <a:extLst>
                  <a:ext uri="{FF2B5EF4-FFF2-40B4-BE49-F238E27FC236}">
                    <a16:creationId xmlns:a16="http://schemas.microsoft.com/office/drawing/2014/main" id="{76158524-190A-D977-1726-4A9AA1427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4" y="4217"/>
                <a:ext cx="60" cy="59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  <p:sp>
            <p:nvSpPr>
              <p:cNvPr id="131092" name="Rectangle 21">
                <a:extLst>
                  <a:ext uri="{FF2B5EF4-FFF2-40B4-BE49-F238E27FC236}">
                    <a16:creationId xmlns:a16="http://schemas.microsoft.com/office/drawing/2014/main" id="{608CD61D-6719-03D1-437D-BC0BE5D9A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2" y="4409"/>
                <a:ext cx="216" cy="3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"/>
                  <a:defRPr sz="29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 panose="05020102010507070707" pitchFamily="18" charset="2"/>
                  <a:buChar char=""/>
                  <a:defRPr sz="26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"/>
                  <a:defRPr sz="23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A5AB81"/>
                  </a:buClr>
                  <a:buSzPct val="7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anose="05000000000000000000" pitchFamily="2" charset="2"/>
                  <a:buChar char=""/>
                  <a:defRPr sz="2000">
                    <a:solidFill>
                      <a:schemeClr val="tx1"/>
                    </a:solidFill>
                    <a:latin typeface="Tw Cen MT" panose="020B0602020104020603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3900"/>
              </a:p>
            </p:txBody>
          </p:sp>
        </p:grpSp>
      </p:grpSp>
      <p:grpSp>
        <p:nvGrpSpPr>
          <p:cNvPr id="131078" name="Group 22">
            <a:extLst>
              <a:ext uri="{FF2B5EF4-FFF2-40B4-BE49-F238E27FC236}">
                <a16:creationId xmlns:a16="http://schemas.microsoft.com/office/drawing/2014/main" id="{FD8CC417-9ED8-96B0-5226-56C06F32235E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5715000"/>
            <a:ext cx="812800" cy="273050"/>
            <a:chOff x="9693" y="1250"/>
            <a:chExt cx="1280" cy="432"/>
          </a:xfrm>
        </p:grpSpPr>
        <p:sp>
          <p:nvSpPr>
            <p:cNvPr id="26" name="AutoShape 23">
              <a:extLst>
                <a:ext uri="{FF2B5EF4-FFF2-40B4-BE49-F238E27FC236}">
                  <a16:creationId xmlns:a16="http://schemas.microsoft.com/office/drawing/2014/main" id="{EF3FD760-C595-4F2F-8873-622D90B99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" y="1250"/>
              <a:ext cx="432" cy="432"/>
            </a:xfrm>
            <a:prstGeom prst="star5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latin typeface="Tw Cen MT" pitchFamily="34" charset="0"/>
                <a:ea typeface="ＭＳ Ｐゴシック" charset="-128"/>
              </a:endParaRPr>
            </a:p>
          </p:txBody>
        </p:sp>
        <p:sp>
          <p:nvSpPr>
            <p:cNvPr id="27" name="AutoShape 24">
              <a:extLst>
                <a:ext uri="{FF2B5EF4-FFF2-40B4-BE49-F238E27FC236}">
                  <a16:creationId xmlns:a16="http://schemas.microsoft.com/office/drawing/2014/main" id="{7C6DA399-5552-4B1C-A363-DEF60F983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3" y="1335"/>
              <a:ext cx="348" cy="347"/>
            </a:xfrm>
            <a:prstGeom prst="star5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latin typeface="Tw Cen MT" pitchFamily="34" charset="0"/>
                <a:ea typeface="ＭＳ Ｐゴシック" charset="-128"/>
              </a:endParaRPr>
            </a:p>
          </p:txBody>
        </p:sp>
        <p:sp>
          <p:nvSpPr>
            <p:cNvPr id="28" name="AutoShape 25">
              <a:extLst>
                <a:ext uri="{FF2B5EF4-FFF2-40B4-BE49-F238E27FC236}">
                  <a16:creationId xmlns:a16="http://schemas.microsoft.com/office/drawing/2014/main" id="{82B6D367-B1B2-4027-B4A9-D8B058606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3" y="1423"/>
              <a:ext cx="260" cy="259"/>
            </a:xfrm>
            <a:prstGeom prst="star5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latin typeface="Tw Cen MT" pitchFamily="34" charset="0"/>
                <a:ea typeface="ＭＳ Ｐゴシック" charset="-128"/>
              </a:endParaRPr>
            </a:p>
          </p:txBody>
        </p:sp>
      </p:grpSp>
      <p:sp>
        <p:nvSpPr>
          <p:cNvPr id="131079" name="Title 1">
            <a:extLst>
              <a:ext uri="{FF2B5EF4-FFF2-40B4-BE49-F238E27FC236}">
                <a16:creationId xmlns:a16="http://schemas.microsoft.com/office/drawing/2014/main" id="{5D251A77-C458-FA65-9FD3-530E5052A145}"/>
              </a:ext>
            </a:extLst>
          </p:cNvPr>
          <p:cNvSpPr txBox="1">
            <a:spLocks/>
          </p:cNvSpPr>
          <p:nvPr/>
        </p:nvSpPr>
        <p:spPr bwMode="auto">
          <a:xfrm>
            <a:off x="3848100" y="487363"/>
            <a:ext cx="5334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solidFill>
                  <a:schemeClr val="tx2"/>
                </a:solidFill>
              </a:rPr>
              <a:t>Review at NEXT SESSION</a:t>
            </a:r>
          </a:p>
        </p:txBody>
      </p:sp>
      <p:sp>
        <p:nvSpPr>
          <p:cNvPr id="131080" name="TextBox 1">
            <a:extLst>
              <a:ext uri="{FF2B5EF4-FFF2-40B4-BE49-F238E27FC236}">
                <a16:creationId xmlns:a16="http://schemas.microsoft.com/office/drawing/2014/main" id="{52D8501A-EEA9-7965-F9E5-309F1D4D7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76200"/>
            <a:ext cx="76200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>
                <a:latin typeface="Arial" panose="020B0604020202020204" pitchFamily="34" charset="0"/>
              </a:rPr>
              <a:t>Simplified Form: One per Day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E8B2BF-8CDB-46C2-A2D6-EEE424776955}"/>
              </a:ext>
            </a:extLst>
          </p:cNvPr>
          <p:cNvCxnSpPr/>
          <p:nvPr/>
        </p:nvCxnSpPr>
        <p:spPr>
          <a:xfrm>
            <a:off x="76200" y="1447800"/>
            <a:ext cx="883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Box 1">
            <a:extLst>
              <a:ext uri="{FF2B5EF4-FFF2-40B4-BE49-F238E27FC236}">
                <a16:creationId xmlns:a16="http://schemas.microsoft.com/office/drawing/2014/main" id="{E84A9217-C5DF-32E5-3799-EB220399C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04800"/>
            <a:ext cx="76200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>
                <a:latin typeface="Arial" panose="020B0604020202020204" pitchFamily="34" charset="0"/>
              </a:rPr>
              <a:t>Simplified Form: Blocks of Time</a:t>
            </a:r>
          </a:p>
        </p:txBody>
      </p:sp>
      <p:pic>
        <p:nvPicPr>
          <p:cNvPr id="132099" name="Picture 9">
            <a:extLst>
              <a:ext uri="{FF2B5EF4-FFF2-40B4-BE49-F238E27FC236}">
                <a16:creationId xmlns:a16="http://schemas.microsoft.com/office/drawing/2014/main" id="{CE533EA9-00FD-585B-ABA3-DA9CDC868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086600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2" name="Picture 419">
            <a:extLst>
              <a:ext uri="{FF2B5EF4-FFF2-40B4-BE49-F238E27FC236}">
                <a16:creationId xmlns:a16="http://schemas.microsoft.com/office/drawing/2014/main" id="{7C462F07-9911-7CFD-C45B-FDE3A4DD6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57200"/>
            <a:ext cx="5053013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3" name="Picture 429">
            <a:extLst>
              <a:ext uri="{FF2B5EF4-FFF2-40B4-BE49-F238E27FC236}">
                <a16:creationId xmlns:a16="http://schemas.microsoft.com/office/drawing/2014/main" id="{75B672A2-2F42-400B-B589-F4E2D4B2C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444"/>
          <a:stretch>
            <a:fillRect/>
          </a:stretch>
        </p:blipFill>
        <p:spPr bwMode="auto">
          <a:xfrm>
            <a:off x="5715000" y="1600200"/>
            <a:ext cx="311785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4" name="Picture 430">
            <a:extLst>
              <a:ext uri="{FF2B5EF4-FFF2-40B4-BE49-F238E27FC236}">
                <a16:creationId xmlns:a16="http://schemas.microsoft.com/office/drawing/2014/main" id="{1FC4A91A-BC9E-5C3F-2E9B-9FE420298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644"/>
          <a:stretch>
            <a:fillRect/>
          </a:stretch>
        </p:blipFill>
        <p:spPr bwMode="auto">
          <a:xfrm>
            <a:off x="5715000" y="4191000"/>
            <a:ext cx="31242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25" name="TextBox 5">
            <a:extLst>
              <a:ext uri="{FF2B5EF4-FFF2-40B4-BE49-F238E27FC236}">
                <a16:creationId xmlns:a16="http://schemas.microsoft.com/office/drawing/2014/main" id="{15DA49A6-80DA-587B-C4D2-C253BB217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7620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sleep</a:t>
            </a:r>
          </a:p>
        </p:txBody>
      </p:sp>
      <p:pic>
        <p:nvPicPr>
          <p:cNvPr id="133126" name="Picture 35">
            <a:extLst>
              <a:ext uri="{FF2B5EF4-FFF2-40B4-BE49-F238E27FC236}">
                <a16:creationId xmlns:a16="http://schemas.microsoft.com/office/drawing/2014/main" id="{7ADCF58E-5E0A-85A0-1387-8756E5370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429000"/>
            <a:ext cx="609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7" name="Picture 35">
            <a:extLst>
              <a:ext uri="{FF2B5EF4-FFF2-40B4-BE49-F238E27FC236}">
                <a16:creationId xmlns:a16="http://schemas.microsoft.com/office/drawing/2014/main" id="{F2A27DF8-FBD8-4738-FFDC-AC33592E7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362200"/>
            <a:ext cx="609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8" name="Picture 35">
            <a:extLst>
              <a:ext uri="{FF2B5EF4-FFF2-40B4-BE49-F238E27FC236}">
                <a16:creationId xmlns:a16="http://schemas.microsoft.com/office/drawing/2014/main" id="{FCAA2E70-71BA-7C22-AB52-8B9736A8D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895600"/>
            <a:ext cx="609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9" name="Picture 35">
            <a:extLst>
              <a:ext uri="{FF2B5EF4-FFF2-40B4-BE49-F238E27FC236}">
                <a16:creationId xmlns:a16="http://schemas.microsoft.com/office/drawing/2014/main" id="{0F32D69F-6382-C3DD-EC0E-C54FC5359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962400"/>
            <a:ext cx="609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30" name="Picture 35">
            <a:extLst>
              <a:ext uri="{FF2B5EF4-FFF2-40B4-BE49-F238E27FC236}">
                <a16:creationId xmlns:a16="http://schemas.microsoft.com/office/drawing/2014/main" id="{051D64E3-6691-95AD-1662-32FE982AB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95800"/>
            <a:ext cx="609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31" name="Picture 35">
            <a:extLst>
              <a:ext uri="{FF2B5EF4-FFF2-40B4-BE49-F238E27FC236}">
                <a16:creationId xmlns:a16="http://schemas.microsoft.com/office/drawing/2014/main" id="{D16A3F24-4436-B830-72CC-909613A04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105400"/>
            <a:ext cx="6096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32" name="Picture 34">
            <a:extLst>
              <a:ext uri="{FF2B5EF4-FFF2-40B4-BE49-F238E27FC236}">
                <a16:creationId xmlns:a16="http://schemas.microsoft.com/office/drawing/2014/main" id="{90FBF28B-F38B-301E-F178-A986F9F1B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429000"/>
            <a:ext cx="501650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33" name="Picture 37" descr="j0397532">
            <a:extLst>
              <a:ext uri="{FF2B5EF4-FFF2-40B4-BE49-F238E27FC236}">
                <a16:creationId xmlns:a16="http://schemas.microsoft.com/office/drawing/2014/main" id="{9CD507B4-10D8-C711-ECDF-89AF2C139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95400"/>
            <a:ext cx="68580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34" name="TextBox 15">
            <a:extLst>
              <a:ext uri="{FF2B5EF4-FFF2-40B4-BE49-F238E27FC236}">
                <a16:creationId xmlns:a16="http://schemas.microsoft.com/office/drawing/2014/main" id="{097BEF4B-29C8-5657-8F73-AF93696EB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7150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work</a:t>
            </a:r>
          </a:p>
        </p:txBody>
      </p:sp>
      <p:sp>
        <p:nvSpPr>
          <p:cNvPr id="133135" name="TextBox 17">
            <a:extLst>
              <a:ext uri="{FF2B5EF4-FFF2-40B4-BE49-F238E27FC236}">
                <a16:creationId xmlns:a16="http://schemas.microsoft.com/office/drawing/2014/main" id="{5F1E6719-40C7-17B9-6920-3E5606327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1722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work</a:t>
            </a:r>
          </a:p>
        </p:txBody>
      </p:sp>
      <p:sp>
        <p:nvSpPr>
          <p:cNvPr id="133136" name="TextBox 18">
            <a:extLst>
              <a:ext uri="{FF2B5EF4-FFF2-40B4-BE49-F238E27FC236}">
                <a16:creationId xmlns:a16="http://schemas.microsoft.com/office/drawing/2014/main" id="{4523CBBF-295C-073B-EABF-7D03ACD78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shower</a:t>
            </a:r>
          </a:p>
        </p:txBody>
      </p:sp>
      <p:pic>
        <p:nvPicPr>
          <p:cNvPr id="133137" name="Picture 34">
            <a:extLst>
              <a:ext uri="{FF2B5EF4-FFF2-40B4-BE49-F238E27FC236}">
                <a16:creationId xmlns:a16="http://schemas.microsoft.com/office/drawing/2014/main" id="{B6B94F93-2D3F-0D34-D8F3-C9BF0BCD3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962400"/>
            <a:ext cx="501650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38" name="TextBox 20">
            <a:extLst>
              <a:ext uri="{FF2B5EF4-FFF2-40B4-BE49-F238E27FC236}">
                <a16:creationId xmlns:a16="http://schemas.microsoft.com/office/drawing/2014/main" id="{CC3743CE-AFBE-5720-6C88-7679EB491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971800"/>
            <a:ext cx="106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watch tv</a:t>
            </a:r>
          </a:p>
        </p:txBody>
      </p:sp>
      <p:pic>
        <p:nvPicPr>
          <p:cNvPr id="133139" name="Picture 37" descr="j0397532">
            <a:extLst>
              <a:ext uri="{FF2B5EF4-FFF2-40B4-BE49-F238E27FC236}">
                <a16:creationId xmlns:a16="http://schemas.microsoft.com/office/drawing/2014/main" id="{A0F68785-521B-7213-CB67-492FBE051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105400"/>
            <a:ext cx="68580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0" name="Picture 37" descr="j0397532">
            <a:extLst>
              <a:ext uri="{FF2B5EF4-FFF2-40B4-BE49-F238E27FC236}">
                <a16:creationId xmlns:a16="http://schemas.microsoft.com/office/drawing/2014/main" id="{EDB26A51-A6B3-58A0-9E3B-AE87AA34F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638800"/>
            <a:ext cx="68580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1" name="Picture 37" descr="j0397532">
            <a:extLst>
              <a:ext uri="{FF2B5EF4-FFF2-40B4-BE49-F238E27FC236}">
                <a16:creationId xmlns:a16="http://schemas.microsoft.com/office/drawing/2014/main" id="{4808314D-4E36-66C3-ADFA-EA8C679EA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6248400"/>
            <a:ext cx="68580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2" name="Picture 37" descr="j0397532">
            <a:extLst>
              <a:ext uri="{FF2B5EF4-FFF2-40B4-BE49-F238E27FC236}">
                <a16:creationId xmlns:a16="http://schemas.microsoft.com/office/drawing/2014/main" id="{D61DEFB7-E560-00F0-8DF3-23BF198A4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572000"/>
            <a:ext cx="68580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3" name="Picture 31">
            <a:extLst>
              <a:ext uri="{FF2B5EF4-FFF2-40B4-BE49-F238E27FC236}">
                <a16:creationId xmlns:a16="http://schemas.microsoft.com/office/drawing/2014/main" id="{00C73A19-19EA-5C14-639B-46FB5B9F4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752600"/>
            <a:ext cx="685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4" name="Picture 15">
            <a:extLst>
              <a:ext uri="{FF2B5EF4-FFF2-40B4-BE49-F238E27FC236}">
                <a16:creationId xmlns:a16="http://schemas.microsoft.com/office/drawing/2014/main" id="{82D26B1F-3801-0DFB-DD18-B7C9E4907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685800"/>
            <a:ext cx="685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5" name="Picture 10">
            <a:extLst>
              <a:ext uri="{FF2B5EF4-FFF2-40B4-BE49-F238E27FC236}">
                <a16:creationId xmlns:a16="http://schemas.microsoft.com/office/drawing/2014/main" id="{E39A9AEB-BE90-A471-AD7E-3E9ACDC29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51" t="37500"/>
          <a:stretch>
            <a:fillRect/>
          </a:stretch>
        </p:blipFill>
        <p:spPr bwMode="auto">
          <a:xfrm>
            <a:off x="3505200" y="2362200"/>
            <a:ext cx="609600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46" name="TextBox 28">
            <a:extLst>
              <a:ext uri="{FF2B5EF4-FFF2-40B4-BE49-F238E27FC236}">
                <a16:creationId xmlns:a16="http://schemas.microsoft.com/office/drawing/2014/main" id="{2F18FC94-2A41-7504-5D60-44D33C37F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295400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phone</a:t>
            </a:r>
          </a:p>
        </p:txBody>
      </p:sp>
      <p:sp>
        <p:nvSpPr>
          <p:cNvPr id="30" name="Multiply 29">
            <a:extLst>
              <a:ext uri="{FF2B5EF4-FFF2-40B4-BE49-F238E27FC236}">
                <a16:creationId xmlns:a16="http://schemas.microsoft.com/office/drawing/2014/main" id="{180EC33C-8A36-46A3-9416-09C7F18304D4}"/>
              </a:ext>
            </a:extLst>
          </p:cNvPr>
          <p:cNvSpPr/>
          <p:nvPr/>
        </p:nvSpPr>
        <p:spPr bwMode="auto">
          <a:xfrm>
            <a:off x="2209800" y="6858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31" name="Multiply 30">
            <a:extLst>
              <a:ext uri="{FF2B5EF4-FFF2-40B4-BE49-F238E27FC236}">
                <a16:creationId xmlns:a16="http://schemas.microsoft.com/office/drawing/2014/main" id="{F44A993C-4E03-4B5A-B218-F71A18FFB1ED}"/>
              </a:ext>
            </a:extLst>
          </p:cNvPr>
          <p:cNvSpPr/>
          <p:nvPr/>
        </p:nvSpPr>
        <p:spPr bwMode="auto">
          <a:xfrm>
            <a:off x="2209800" y="12192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32" name="Multiply 31">
            <a:extLst>
              <a:ext uri="{FF2B5EF4-FFF2-40B4-BE49-F238E27FC236}">
                <a16:creationId xmlns:a16="http://schemas.microsoft.com/office/drawing/2014/main" id="{17F2EE8B-5078-4817-BEF5-D05F8B27E233}"/>
              </a:ext>
            </a:extLst>
          </p:cNvPr>
          <p:cNvSpPr/>
          <p:nvPr/>
        </p:nvSpPr>
        <p:spPr bwMode="auto">
          <a:xfrm>
            <a:off x="1981200" y="18288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33" name="Multiply 32">
            <a:extLst>
              <a:ext uri="{FF2B5EF4-FFF2-40B4-BE49-F238E27FC236}">
                <a16:creationId xmlns:a16="http://schemas.microsoft.com/office/drawing/2014/main" id="{8BC95441-41DF-4A33-A4D1-64D25C2EB4E8}"/>
              </a:ext>
            </a:extLst>
          </p:cNvPr>
          <p:cNvSpPr/>
          <p:nvPr/>
        </p:nvSpPr>
        <p:spPr bwMode="auto">
          <a:xfrm>
            <a:off x="5029200" y="28956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34" name="Multiply 33">
            <a:extLst>
              <a:ext uri="{FF2B5EF4-FFF2-40B4-BE49-F238E27FC236}">
                <a16:creationId xmlns:a16="http://schemas.microsoft.com/office/drawing/2014/main" id="{6D4C8957-F092-4420-86CA-472A89FB1FDD}"/>
              </a:ext>
            </a:extLst>
          </p:cNvPr>
          <p:cNvSpPr/>
          <p:nvPr/>
        </p:nvSpPr>
        <p:spPr bwMode="auto">
          <a:xfrm>
            <a:off x="4724400" y="34290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35" name="Multiply 34">
            <a:extLst>
              <a:ext uri="{FF2B5EF4-FFF2-40B4-BE49-F238E27FC236}">
                <a16:creationId xmlns:a16="http://schemas.microsoft.com/office/drawing/2014/main" id="{B5B481C9-11CE-4BC9-9A19-55473C70E268}"/>
              </a:ext>
            </a:extLst>
          </p:cNvPr>
          <p:cNvSpPr/>
          <p:nvPr/>
        </p:nvSpPr>
        <p:spPr bwMode="auto">
          <a:xfrm>
            <a:off x="4495800" y="39624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36" name="Multiply 35">
            <a:extLst>
              <a:ext uri="{FF2B5EF4-FFF2-40B4-BE49-F238E27FC236}">
                <a16:creationId xmlns:a16="http://schemas.microsoft.com/office/drawing/2014/main" id="{D98972D1-60DA-465E-BD02-346A79AEA198}"/>
              </a:ext>
            </a:extLst>
          </p:cNvPr>
          <p:cNvSpPr/>
          <p:nvPr/>
        </p:nvSpPr>
        <p:spPr bwMode="auto">
          <a:xfrm>
            <a:off x="4724400" y="44958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37" name="Multiply 36">
            <a:extLst>
              <a:ext uri="{FF2B5EF4-FFF2-40B4-BE49-F238E27FC236}">
                <a16:creationId xmlns:a16="http://schemas.microsoft.com/office/drawing/2014/main" id="{7DB9F97E-9202-4D45-B9E1-F7370F3E0307}"/>
              </a:ext>
            </a:extLst>
          </p:cNvPr>
          <p:cNvSpPr/>
          <p:nvPr/>
        </p:nvSpPr>
        <p:spPr bwMode="auto">
          <a:xfrm>
            <a:off x="4724400" y="51054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38" name="Multiply 37">
            <a:extLst>
              <a:ext uri="{FF2B5EF4-FFF2-40B4-BE49-F238E27FC236}">
                <a16:creationId xmlns:a16="http://schemas.microsoft.com/office/drawing/2014/main" id="{90A67D90-530D-41D4-9E9E-041F2E2DD05F}"/>
              </a:ext>
            </a:extLst>
          </p:cNvPr>
          <p:cNvSpPr/>
          <p:nvPr/>
        </p:nvSpPr>
        <p:spPr bwMode="auto">
          <a:xfrm>
            <a:off x="4724400" y="56388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39" name="Multiply 38">
            <a:extLst>
              <a:ext uri="{FF2B5EF4-FFF2-40B4-BE49-F238E27FC236}">
                <a16:creationId xmlns:a16="http://schemas.microsoft.com/office/drawing/2014/main" id="{F29D5DD1-A534-4F73-82BF-207176B738C5}"/>
              </a:ext>
            </a:extLst>
          </p:cNvPr>
          <p:cNvSpPr/>
          <p:nvPr/>
        </p:nvSpPr>
        <p:spPr bwMode="auto">
          <a:xfrm>
            <a:off x="4724400" y="60960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40" name="Multiply 39">
            <a:extLst>
              <a:ext uri="{FF2B5EF4-FFF2-40B4-BE49-F238E27FC236}">
                <a16:creationId xmlns:a16="http://schemas.microsoft.com/office/drawing/2014/main" id="{E7064C9B-FF73-463A-9D58-08FE842F13F8}"/>
              </a:ext>
            </a:extLst>
          </p:cNvPr>
          <p:cNvSpPr/>
          <p:nvPr/>
        </p:nvSpPr>
        <p:spPr bwMode="auto">
          <a:xfrm>
            <a:off x="1981200" y="56388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41" name="Multiply 40">
            <a:extLst>
              <a:ext uri="{FF2B5EF4-FFF2-40B4-BE49-F238E27FC236}">
                <a16:creationId xmlns:a16="http://schemas.microsoft.com/office/drawing/2014/main" id="{AA68BEA8-586C-461E-9234-646897D742B4}"/>
              </a:ext>
            </a:extLst>
          </p:cNvPr>
          <p:cNvSpPr/>
          <p:nvPr/>
        </p:nvSpPr>
        <p:spPr bwMode="auto">
          <a:xfrm>
            <a:off x="2209800" y="23622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42" name="Multiply 41">
            <a:extLst>
              <a:ext uri="{FF2B5EF4-FFF2-40B4-BE49-F238E27FC236}">
                <a16:creationId xmlns:a16="http://schemas.microsoft.com/office/drawing/2014/main" id="{3031C0AE-BDD5-4E19-B88D-2CB2F07BF346}"/>
              </a:ext>
            </a:extLst>
          </p:cNvPr>
          <p:cNvSpPr/>
          <p:nvPr/>
        </p:nvSpPr>
        <p:spPr bwMode="auto">
          <a:xfrm>
            <a:off x="2209800" y="28956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43" name="Multiply 42">
            <a:extLst>
              <a:ext uri="{FF2B5EF4-FFF2-40B4-BE49-F238E27FC236}">
                <a16:creationId xmlns:a16="http://schemas.microsoft.com/office/drawing/2014/main" id="{D86CAC75-FF9C-4F09-A3E6-38530D78E624}"/>
              </a:ext>
            </a:extLst>
          </p:cNvPr>
          <p:cNvSpPr/>
          <p:nvPr/>
        </p:nvSpPr>
        <p:spPr bwMode="auto">
          <a:xfrm>
            <a:off x="2209800" y="34290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44" name="Multiply 43">
            <a:extLst>
              <a:ext uri="{FF2B5EF4-FFF2-40B4-BE49-F238E27FC236}">
                <a16:creationId xmlns:a16="http://schemas.microsoft.com/office/drawing/2014/main" id="{3E8F57E8-B748-44A2-BA2D-E24CE86988D1}"/>
              </a:ext>
            </a:extLst>
          </p:cNvPr>
          <p:cNvSpPr/>
          <p:nvPr/>
        </p:nvSpPr>
        <p:spPr bwMode="auto">
          <a:xfrm>
            <a:off x="2209800" y="39624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45" name="Multiply 44">
            <a:extLst>
              <a:ext uri="{FF2B5EF4-FFF2-40B4-BE49-F238E27FC236}">
                <a16:creationId xmlns:a16="http://schemas.microsoft.com/office/drawing/2014/main" id="{CFCC6C18-8AEF-4B08-8868-809C9409FA3E}"/>
              </a:ext>
            </a:extLst>
          </p:cNvPr>
          <p:cNvSpPr/>
          <p:nvPr/>
        </p:nvSpPr>
        <p:spPr bwMode="auto">
          <a:xfrm>
            <a:off x="2209800" y="45720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46" name="Multiply 45">
            <a:extLst>
              <a:ext uri="{FF2B5EF4-FFF2-40B4-BE49-F238E27FC236}">
                <a16:creationId xmlns:a16="http://schemas.microsoft.com/office/drawing/2014/main" id="{39364BEF-4E71-49B7-9536-D7F8531D30AF}"/>
              </a:ext>
            </a:extLst>
          </p:cNvPr>
          <p:cNvSpPr/>
          <p:nvPr/>
        </p:nvSpPr>
        <p:spPr bwMode="auto">
          <a:xfrm>
            <a:off x="1981200" y="51054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47" name="Multiply 46">
            <a:extLst>
              <a:ext uri="{FF2B5EF4-FFF2-40B4-BE49-F238E27FC236}">
                <a16:creationId xmlns:a16="http://schemas.microsoft.com/office/drawing/2014/main" id="{1463F083-EF26-411A-BBE7-6BBA4097F542}"/>
              </a:ext>
            </a:extLst>
          </p:cNvPr>
          <p:cNvSpPr/>
          <p:nvPr/>
        </p:nvSpPr>
        <p:spPr bwMode="auto">
          <a:xfrm>
            <a:off x="1981200" y="61722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77BEE29D-502A-41FE-87D0-F3C7D776B10A}"/>
              </a:ext>
            </a:extLst>
          </p:cNvPr>
          <p:cNvSpPr/>
          <p:nvPr/>
        </p:nvSpPr>
        <p:spPr bwMode="auto">
          <a:xfrm>
            <a:off x="5029200" y="6858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49" name="Multiply 48">
            <a:extLst>
              <a:ext uri="{FF2B5EF4-FFF2-40B4-BE49-F238E27FC236}">
                <a16:creationId xmlns:a16="http://schemas.microsoft.com/office/drawing/2014/main" id="{4A7A8AA0-832C-477F-8A2E-11B1028AA00F}"/>
              </a:ext>
            </a:extLst>
          </p:cNvPr>
          <p:cNvSpPr/>
          <p:nvPr/>
        </p:nvSpPr>
        <p:spPr bwMode="auto">
          <a:xfrm>
            <a:off x="4724400" y="12954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50" name="Multiply 49">
            <a:extLst>
              <a:ext uri="{FF2B5EF4-FFF2-40B4-BE49-F238E27FC236}">
                <a16:creationId xmlns:a16="http://schemas.microsoft.com/office/drawing/2014/main" id="{F788A4C1-F7B7-4D36-87B3-F02DE9773FEB}"/>
              </a:ext>
            </a:extLst>
          </p:cNvPr>
          <p:cNvSpPr/>
          <p:nvPr/>
        </p:nvSpPr>
        <p:spPr bwMode="auto">
          <a:xfrm>
            <a:off x="4724400" y="23622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51" name="Multiply 50">
            <a:extLst>
              <a:ext uri="{FF2B5EF4-FFF2-40B4-BE49-F238E27FC236}">
                <a16:creationId xmlns:a16="http://schemas.microsoft.com/office/drawing/2014/main" id="{6B23F8E9-9B64-4134-9700-50CB9FD3F062}"/>
              </a:ext>
            </a:extLst>
          </p:cNvPr>
          <p:cNvSpPr/>
          <p:nvPr/>
        </p:nvSpPr>
        <p:spPr bwMode="auto">
          <a:xfrm>
            <a:off x="4724400" y="1828800"/>
            <a:ext cx="381000" cy="457200"/>
          </a:xfrm>
          <a:prstGeom prst="mathMultiply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Tw Cen MT" pitchFamily="34" charset="0"/>
              <a:ea typeface="ＭＳ Ｐゴシック" pitchFamily="-106" charset="-128"/>
            </a:endParaRPr>
          </a:p>
        </p:txBody>
      </p:sp>
      <p:sp>
        <p:nvSpPr>
          <p:cNvPr id="133169" name="TextBox 1">
            <a:extLst>
              <a:ext uri="{FF2B5EF4-FFF2-40B4-BE49-F238E27FC236}">
                <a16:creationId xmlns:a16="http://schemas.microsoft.com/office/drawing/2014/main" id="{EAF45E76-4C3B-5A89-B24A-E29975CC8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4288"/>
            <a:ext cx="7620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>
                <a:latin typeface="Arial" panose="020B0604020202020204" pitchFamily="34" charset="0"/>
              </a:rPr>
              <a:t>Simplified Form: Low Literacy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4E0F3-B025-E705-CA33-59AC25ED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B47645B5-B46B-4A13-BBC9-930549A88D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001000" cy="9144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  <a:cs typeface="+mj-cs"/>
              </a:rPr>
              <a:t>Therapist-assisted App-based Brief BA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D3525-A40B-EA81-2992-066361E81C39}"/>
              </a:ext>
            </a:extLst>
          </p:cNvPr>
          <p:cNvSpPr txBox="1"/>
          <p:nvPr/>
        </p:nvSpPr>
        <p:spPr>
          <a:xfrm>
            <a:off x="178484" y="1600200"/>
            <a:ext cx="861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hlinkClick r:id="rId3"/>
              </a:rPr>
              <a:t>https://www.behavioralactivationtech.com/about</a:t>
            </a:r>
            <a:r>
              <a:rPr lang="en-US" sz="1500" dirty="0"/>
              <a:t> (please direct any questions to </a:t>
            </a:r>
            <a:r>
              <a:rPr lang="en-US" sz="1500" dirty="0">
                <a:hlinkClick r:id="rId4"/>
              </a:rPr>
              <a:t>dahne@musc.edu</a:t>
            </a:r>
            <a:r>
              <a:rPr lang="en-US" sz="15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F48A0-FDA1-F5ED-6E6C-F6B5D7D210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14" b="8903"/>
          <a:stretch/>
        </p:blipFill>
        <p:spPr>
          <a:xfrm>
            <a:off x="685800" y="1981200"/>
            <a:ext cx="7443568" cy="38453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5DFA56-F03D-6B67-403B-728DD8467B92}"/>
              </a:ext>
            </a:extLst>
          </p:cNvPr>
          <p:cNvSpPr txBox="1"/>
          <p:nvPr/>
        </p:nvSpPr>
        <p:spPr>
          <a:xfrm>
            <a:off x="228600" y="6145740"/>
            <a:ext cx="8305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1A254C"/>
                </a:solidFill>
                <a:effectLst/>
                <a:latin typeface="Roboto" panose="02000000000000000000" pitchFamily="2" charset="0"/>
              </a:rPr>
              <a:t>For a Lets Act specific app, see: Paquette CE, Rubalcava DT, Chen Y, Anand D, Daughters SB.; A Mobile App to Enhance Behavioral Activation Treatment for Substance Use Disorder: App Design, Use, and Integration Into Treatment in the Context of a Randomized Controlled Trial; JMIR Form Res 2021;5(11):</a:t>
            </a:r>
            <a:r>
              <a:rPr lang="en-US" sz="1000" b="0" i="0" dirty="0">
                <a:effectLst/>
                <a:latin typeface="Roboto" panose="02000000000000000000" pitchFamily="2" charset="0"/>
              </a:rPr>
              <a:t>e25749; </a:t>
            </a:r>
            <a:r>
              <a:rPr lang="en-US" sz="1000" b="0" i="0" dirty="0" err="1">
                <a:effectLst/>
                <a:latin typeface="Roboto" panose="02000000000000000000" pitchFamily="2" charset="0"/>
              </a:rPr>
              <a:t>doi</a:t>
            </a:r>
            <a:r>
              <a:rPr lang="en-US" sz="1000" b="0" i="0" dirty="0">
                <a:effectLst/>
                <a:latin typeface="Roboto" panose="02000000000000000000" pitchFamily="2" charset="0"/>
              </a:rPr>
              <a:t>: </a:t>
            </a:r>
            <a:r>
              <a:rPr lang="en-US" sz="1000" b="0" i="0" u="none" strike="noStrike" dirty="0">
                <a:effectLst/>
                <a:latin typeface="Roboto" panose="020000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10.2196/25749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450312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4C3300FE-4069-C90D-5C94-7693415DA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/>
          <a:lstStyle/>
          <a:p>
            <a:pPr algn="ctr"/>
            <a:r>
              <a:rPr lang="en-US" altLang="en-US" sz="4000" dirty="0"/>
              <a:t>Poll Question #7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9B3D9D85-BF1E-4485-6D71-D86C0A93206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86800" cy="4419600"/>
          </a:xfrm>
        </p:spPr>
        <p:txBody>
          <a:bodyPr/>
          <a:lstStyle/>
          <a:p>
            <a:r>
              <a:rPr lang="en-US" altLang="en-US" sz="2800" dirty="0"/>
              <a:t>Following today’s session, how confident are you with implementing brief behavioral activation from 0 (not at all confident) to 5 (very confident)?</a:t>
            </a:r>
          </a:p>
          <a:p>
            <a:pPr lvl="1"/>
            <a:r>
              <a:rPr lang="en-US" altLang="en-US" sz="1800" dirty="0"/>
              <a:t>0</a:t>
            </a:r>
          </a:p>
          <a:p>
            <a:pPr lvl="1"/>
            <a:r>
              <a:rPr lang="en-US" altLang="en-US" sz="1800" dirty="0"/>
              <a:t>1</a:t>
            </a:r>
          </a:p>
          <a:p>
            <a:pPr lvl="1"/>
            <a:r>
              <a:rPr lang="en-US" altLang="en-US" sz="1800" dirty="0"/>
              <a:t>2</a:t>
            </a:r>
          </a:p>
          <a:p>
            <a:pPr lvl="1"/>
            <a:r>
              <a:rPr lang="en-US" altLang="en-US" sz="1800" dirty="0"/>
              <a:t>3</a:t>
            </a:r>
          </a:p>
          <a:p>
            <a:pPr lvl="1"/>
            <a:r>
              <a:rPr lang="en-US" altLang="en-US" sz="1800" dirty="0"/>
              <a:t>4</a:t>
            </a:r>
          </a:p>
          <a:p>
            <a:pPr lvl="1"/>
            <a:r>
              <a:rPr lang="en-US" altLang="en-US" sz="1800" dirty="0"/>
              <a:t>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DDBEB5A2-B8B2-6F30-03C8-A57CB5D96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/>
          <a:lstStyle/>
          <a:p>
            <a:pPr algn="ctr"/>
            <a:r>
              <a:rPr lang="en-US" altLang="en-US" sz="4000" dirty="0"/>
              <a:t>Poll Question #8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7664DAF6-00AC-99E6-2761-83571B4090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86800" cy="4419600"/>
          </a:xfrm>
        </p:spPr>
        <p:txBody>
          <a:bodyPr/>
          <a:lstStyle/>
          <a:p>
            <a:r>
              <a:rPr lang="en-US" altLang="en-US" sz="3200" dirty="0"/>
              <a:t>Following today’s workshop, what aspect of behavioral activation remains most challenging?</a:t>
            </a:r>
          </a:p>
          <a:p>
            <a:pPr lvl="1"/>
            <a:r>
              <a:rPr lang="en-US" altLang="en-US" sz="2400" dirty="0"/>
              <a:t>Rationale</a:t>
            </a:r>
          </a:p>
          <a:p>
            <a:pPr lvl="1"/>
            <a:r>
              <a:rPr lang="en-US" altLang="en-US" sz="2400" dirty="0"/>
              <a:t>Monitoring</a:t>
            </a:r>
          </a:p>
          <a:p>
            <a:pPr lvl="1"/>
            <a:r>
              <a:rPr lang="en-US" altLang="en-US" sz="2400" dirty="0"/>
              <a:t>LAVA</a:t>
            </a:r>
          </a:p>
          <a:p>
            <a:pPr lvl="1"/>
            <a:r>
              <a:rPr lang="en-US" altLang="en-US" sz="2400" dirty="0"/>
              <a:t>Activity Ranking</a:t>
            </a:r>
          </a:p>
          <a:p>
            <a:pPr lvl="1"/>
            <a:r>
              <a:rPr lang="en-US" altLang="en-US" sz="2400" dirty="0"/>
              <a:t>Planning and Monitoring </a:t>
            </a:r>
          </a:p>
          <a:p>
            <a:pPr lvl="1"/>
            <a:r>
              <a:rPr lang="en-US" altLang="en-US" sz="2400" dirty="0"/>
              <a:t>Contracts</a:t>
            </a:r>
          </a:p>
          <a:p>
            <a:pPr lvl="1"/>
            <a:r>
              <a:rPr lang="en-US" altLang="en-US" sz="2400" dirty="0"/>
              <a:t>Maintenance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CA7F5800-E8D0-4BD4-5FDA-203EEC9C4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153400" cy="990600"/>
          </a:xfrm>
        </p:spPr>
        <p:txBody>
          <a:bodyPr/>
          <a:lstStyle/>
          <a:p>
            <a:pPr algn="ctr" eaLnBrk="1" hangingPunct="1"/>
            <a:r>
              <a:rPr lang="en-US" altLang="en-US" sz="4000" dirty="0"/>
              <a:t>Final Discussion and Questions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13276</TotalTime>
  <Words>3628</Words>
  <Application>Microsoft Office PowerPoint</Application>
  <PresentationFormat>On-screen Show (4:3)</PresentationFormat>
  <Paragraphs>760</Paragraphs>
  <Slides>62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1" baseType="lpstr">
      <vt:lpstr>ＭＳ Ｐゴシック</vt:lpstr>
      <vt:lpstr>Arial</vt:lpstr>
      <vt:lpstr>Calibri</vt:lpstr>
      <vt:lpstr>Lucida Handwriting</vt:lpstr>
      <vt:lpstr>Roboto</vt:lpstr>
      <vt:lpstr>Tw Cen MT</vt:lpstr>
      <vt:lpstr>Wingdings</vt:lpstr>
      <vt:lpstr>Wingdings 2</vt:lpstr>
      <vt:lpstr>Median</vt:lpstr>
      <vt:lpstr> Brief Behavioural Activation (BBA) as a Transdiagnostic Therapy</vt:lpstr>
      <vt:lpstr>Poll Question #1</vt:lpstr>
      <vt:lpstr>Brief Behavioral Activation (BBA) Today’s Agenda, Goals, and Ground Rules</vt:lpstr>
      <vt:lpstr>Early Behavioral Approaches for Depression</vt:lpstr>
      <vt:lpstr>Pleasant Events Conceptual Model</vt:lpstr>
      <vt:lpstr>+ support from Gilbert Ryle</vt:lpstr>
      <vt:lpstr>+ support from Gilbert Ryle &amp; Charlie Brown</vt:lpstr>
      <vt:lpstr>Not everyone Agreed</vt:lpstr>
      <vt:lpstr>PowerPoint Presentation</vt:lpstr>
      <vt:lpstr>Additional Data that Further  Changed the Conversation</vt:lpstr>
      <vt:lpstr>What is Behavioral Activation</vt:lpstr>
      <vt:lpstr>Brief Behavioral Activation (BBA)</vt:lpstr>
      <vt:lpstr>Application of BBA across Conditions (Transdiagnostic)</vt:lpstr>
      <vt:lpstr>Practice Exercise #1</vt:lpstr>
      <vt:lpstr>Poll Questions #2 &amp; #3</vt:lpstr>
      <vt:lpstr>Core Principles of BBA</vt:lpstr>
      <vt:lpstr>A Note About Individualization and the Role of the BBA Therapist</vt:lpstr>
      <vt:lpstr>BATD (BBA)  10-SESSION PROTOCOL</vt:lpstr>
      <vt:lpstr>Session 1</vt:lpstr>
      <vt:lpstr>Treatment Rationale</vt:lpstr>
      <vt:lpstr>Reinforcement-based Conceptual Model Applied to Depression</vt:lpstr>
      <vt:lpstr>Introduction to Clip</vt:lpstr>
      <vt:lpstr>Poll Question #4</vt:lpstr>
      <vt:lpstr>Behavior Monitoring (Form 1)</vt:lpstr>
      <vt:lpstr>Daily Monitoring (Form 1)  Date:_______________</vt:lpstr>
      <vt:lpstr>Practice Exercise #2</vt:lpstr>
      <vt:lpstr>Introduction to Clip</vt:lpstr>
      <vt:lpstr>Session 2</vt:lpstr>
      <vt:lpstr>Behavior Monitoring Review (Form 1)</vt:lpstr>
      <vt:lpstr>Daily Monitoring (Form 1)  Date:_______________</vt:lpstr>
      <vt:lpstr>Introduction to Clip</vt:lpstr>
      <vt:lpstr>Poll Question #5</vt:lpstr>
      <vt:lpstr>5 Life Areas</vt:lpstr>
      <vt:lpstr>Identify Values</vt:lpstr>
      <vt:lpstr>Identify Activities</vt:lpstr>
      <vt:lpstr>LAVA</vt:lpstr>
      <vt:lpstr>Activities as “Angles” and/or “Steps” </vt:lpstr>
      <vt:lpstr>Practice Exercise #3</vt:lpstr>
      <vt:lpstr>Session 3</vt:lpstr>
      <vt:lpstr>Activity Selection &amp; Ranking (Form 3)</vt:lpstr>
      <vt:lpstr>PowerPoint Presentation</vt:lpstr>
      <vt:lpstr>Session 4</vt:lpstr>
      <vt:lpstr>In-Session Planning </vt:lpstr>
      <vt:lpstr>Daily Monitoring (Form 1)  Date:_______________</vt:lpstr>
      <vt:lpstr>Daily Monitoring (Form 1)  Date:_______________</vt:lpstr>
      <vt:lpstr>Planning and Monitoring</vt:lpstr>
      <vt:lpstr>Introduction to Clip</vt:lpstr>
      <vt:lpstr>Session 5</vt:lpstr>
      <vt:lpstr>Daily Monitoring (Form 1) – SUD Version  Date:_______________</vt:lpstr>
      <vt:lpstr>Contracts (Form 4)</vt:lpstr>
      <vt:lpstr>Contracts (Form 4) - Example</vt:lpstr>
      <vt:lpstr>Sessions 6-10</vt:lpstr>
      <vt:lpstr>BBA as a Swiss Army Knife Intervention?</vt:lpstr>
      <vt:lpstr>Some Challenging Issues</vt:lpstr>
      <vt:lpstr>Tips for Using Brief BA in a Group Setting</vt:lpstr>
      <vt:lpstr>Complete NOW</vt:lpstr>
      <vt:lpstr>PowerPoint Presentation</vt:lpstr>
      <vt:lpstr>PowerPoint Presentation</vt:lpstr>
      <vt:lpstr>Therapist-assisted App-based Brief BA</vt:lpstr>
      <vt:lpstr>Poll Question #7</vt:lpstr>
      <vt:lpstr>Poll Question #8</vt:lpstr>
      <vt:lpstr>Final Discussion and Questions</vt:lpstr>
    </vt:vector>
  </TitlesOfParts>
  <Company>Kent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Activation</dc:title>
  <dc:creator>David M. Fresco</dc:creator>
  <cp:lastModifiedBy>Carl Lejuez</cp:lastModifiedBy>
  <cp:revision>809</cp:revision>
  <cp:lastPrinted>2004-10-20T02:13:22Z</cp:lastPrinted>
  <dcterms:created xsi:type="dcterms:W3CDTF">2004-10-18T01:35:10Z</dcterms:created>
  <dcterms:modified xsi:type="dcterms:W3CDTF">2025-09-17T11:32:49Z</dcterms:modified>
</cp:coreProperties>
</file>